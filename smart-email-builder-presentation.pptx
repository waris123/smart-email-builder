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768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326880" y="-2011680"/>
            <a:ext cx="5486400" cy="5486400"/>
          </a:xfrm>
          <a:prstGeom prst="ellipse">
            <a:avLst/>
          </a:prstGeom>
          <a:solidFill>
            <a:srgbClr val="3A468C"/>
          </a:solidFill>
          <a:ln/>
        </p:spPr>
      </p:sp>
      <p:sp>
        <p:nvSpPr>
          <p:cNvPr id="3" name="Shape 1"/>
          <p:cNvSpPr/>
          <p:nvPr/>
        </p:nvSpPr>
        <p:spPr>
          <a:xfrm>
            <a:off x="-2286000" y="4389120"/>
            <a:ext cx="4572000" cy="4572000"/>
          </a:xfrm>
          <a:prstGeom prst="ellipse">
            <a:avLst/>
          </a:prstGeom>
          <a:solidFill>
            <a:srgbClr val="3A468C"/>
          </a:solidFill>
          <a:ln/>
        </p:spPr>
      </p:sp>
      <p:sp>
        <p:nvSpPr>
          <p:cNvPr id="4" name="Text 2"/>
          <p:cNvSpPr/>
          <p:nvPr/>
        </p:nvSpPr>
        <p:spPr>
          <a:xfrm>
            <a:off x="822960" y="2331720"/>
            <a:ext cx="105156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SMART AI EMAIL BUILDER</a:t>
            </a:r>
            <a:endParaRPr lang="en-US" sz="4400" dirty="0"/>
          </a:p>
        </p:txBody>
      </p:sp>
      <p:sp>
        <p:nvSpPr>
          <p:cNvPr id="5" name="Text 3"/>
          <p:cNvSpPr/>
          <p:nvPr/>
        </p:nvSpPr>
        <p:spPr>
          <a:xfrm>
            <a:off x="822960" y="3200400"/>
            <a:ext cx="10515600" cy="54864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A RAG-Based Client Email Generation System</a:t>
            </a:r>
            <a:endParaRPr lang="en-US" sz="2000" dirty="0"/>
          </a:p>
        </p:txBody>
      </p:sp>
      <p:sp>
        <p:nvSpPr>
          <p:cNvPr id="6" name="Shape 4"/>
          <p:cNvSpPr/>
          <p:nvPr/>
        </p:nvSpPr>
        <p:spPr>
          <a:xfrm>
            <a:off x="822960" y="3886200"/>
            <a:ext cx="1280160" cy="41148"/>
          </a:xfrm>
          <a:prstGeom prst="rect">
            <a:avLst/>
          </a:prstGeom>
          <a:solidFill>
            <a:srgbClr val="CADCFC"/>
          </a:solidFill>
          <a:ln/>
        </p:spPr>
      </p:sp>
      <p:sp>
        <p:nvSpPr>
          <p:cNvPr id="8" name="Text 6"/>
          <p:cNvSpPr/>
          <p:nvPr/>
        </p:nvSpPr>
        <p:spPr>
          <a:xfrm>
            <a:off x="822960" y="6126480"/>
            <a:ext cx="54864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Prepared by Abdul </a:t>
            </a:r>
            <a:r>
              <a:rPr lang="en-US" sz="1300" b="1" dirty="0" smtClean="0">
                <a:solidFill>
                  <a:srgbClr val="FFFFFF"/>
                </a:solidFill>
                <a:latin typeface="Calibri" pitchFamily="34" charset="0"/>
                <a:ea typeface="Calibri" pitchFamily="34" charset="-122"/>
                <a:cs typeface="Calibri" pitchFamily="34" charset="-120"/>
              </a:rPr>
              <a:t>Waris and Syed Usama</a:t>
            </a:r>
            <a:endParaRPr lang="en-US" sz="1300" dirty="0"/>
          </a:p>
        </p:txBody>
      </p:sp>
      <p:sp>
        <p:nvSpPr>
          <p:cNvPr id="9" name="Text 7"/>
          <p:cNvSpPr/>
          <p:nvPr/>
        </p:nvSpPr>
        <p:spPr>
          <a:xfrm>
            <a:off x="822960" y="6400800"/>
            <a:ext cx="5486400" cy="320040"/>
          </a:xfrm>
          <a:prstGeom prst="rect">
            <a:avLst/>
          </a:prstGeom>
          <a:noFill/>
          <a:ln/>
        </p:spPr>
        <p:txBody>
          <a:bodyPr wrap="square" lIns="0" tIns="0" rIns="0" bIns="0" rtlCol="0" anchor="ctr"/>
          <a:lstStyle/>
          <a:p>
            <a:pPr marL="0" indent="0">
              <a:buNone/>
            </a:pPr>
            <a:r>
              <a:rPr lang="en-US" sz="1100" dirty="0">
                <a:solidFill>
                  <a:srgbClr val="9AA9D6"/>
                </a:solidFill>
                <a:latin typeface="Calibri" pitchFamily="34" charset="0"/>
                <a:ea typeface="Calibri" pitchFamily="34" charset="-122"/>
                <a:cs typeface="Calibri" pitchFamily="34" charset="-120"/>
              </a:rPr>
              <a:t>July 2026</a:t>
            </a:r>
            <a:endParaRPr lang="en-US" sz="11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5397" y="569595"/>
            <a:ext cx="1990725" cy="15335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WHY THIS PROJECT EXISTS</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Problem</a:t>
            </a:r>
            <a:endParaRPr lang="en-US" sz="3200" dirty="0"/>
          </a:p>
        </p:txBody>
      </p:sp>
      <p:sp>
        <p:nvSpPr>
          <p:cNvPr id="4" name="Shape 2"/>
          <p:cNvSpPr/>
          <p:nvPr/>
        </p:nvSpPr>
        <p:spPr>
          <a:xfrm>
            <a:off x="640080" y="1600200"/>
            <a:ext cx="502920" cy="502920"/>
          </a:xfrm>
          <a:prstGeom prst="ellipse">
            <a:avLst/>
          </a:prstGeom>
          <a:solidFill>
            <a:srgbClr val="1E2761"/>
          </a:solidFill>
          <a:ln/>
        </p:spPr>
      </p:sp>
      <p:sp>
        <p:nvSpPr>
          <p:cNvPr id="5" name="Text 3"/>
          <p:cNvSpPr/>
          <p:nvPr/>
        </p:nvSpPr>
        <p:spPr>
          <a:xfrm>
            <a:off x="640080"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25880" y="1554480"/>
            <a:ext cx="699516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Multiple Client Types</a:t>
            </a:r>
            <a:endParaRPr lang="en-US" sz="1600" dirty="0"/>
          </a:p>
        </p:txBody>
      </p:sp>
      <p:sp>
        <p:nvSpPr>
          <p:cNvPr id="7" name="Text 5"/>
          <p:cNvSpPr/>
          <p:nvPr/>
        </p:nvSpPr>
        <p:spPr>
          <a:xfrm>
            <a:off x="1325880" y="1874520"/>
            <a:ext cx="699516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Enterprise accounts, small businesses, and long-term clients each expect a different tone — one template does not fit all.</a:t>
            </a:r>
            <a:endParaRPr lang="en-US" sz="1250" dirty="0"/>
          </a:p>
        </p:txBody>
      </p:sp>
      <p:sp>
        <p:nvSpPr>
          <p:cNvPr id="8" name="Shape 6"/>
          <p:cNvSpPr/>
          <p:nvPr/>
        </p:nvSpPr>
        <p:spPr>
          <a:xfrm>
            <a:off x="640080" y="2560320"/>
            <a:ext cx="502920" cy="502920"/>
          </a:xfrm>
          <a:prstGeom prst="ellipse">
            <a:avLst/>
          </a:prstGeom>
          <a:solidFill>
            <a:srgbClr val="1E2761"/>
          </a:solidFill>
          <a:ln/>
        </p:spPr>
      </p:sp>
      <p:sp>
        <p:nvSpPr>
          <p:cNvPr id="9" name="Text 7"/>
          <p:cNvSpPr/>
          <p:nvPr/>
        </p:nvSpPr>
        <p:spPr>
          <a:xfrm>
            <a:off x="640080" y="2560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325880" y="2514600"/>
            <a:ext cx="699516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Inconsistent Tone from Junior Staff</a:t>
            </a:r>
            <a:endParaRPr lang="en-US" sz="1600" dirty="0"/>
          </a:p>
        </p:txBody>
      </p:sp>
      <p:sp>
        <p:nvSpPr>
          <p:cNvPr id="11" name="Text 9"/>
          <p:cNvSpPr/>
          <p:nvPr/>
        </p:nvSpPr>
        <p:spPr>
          <a:xfrm>
            <a:off x="1325880" y="2834640"/>
            <a:ext cx="699516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Junior team members often don't know how to phrase a sensitive reply, especially under pressure.</a:t>
            </a:r>
            <a:endParaRPr lang="en-US" sz="1250" dirty="0"/>
          </a:p>
        </p:txBody>
      </p:sp>
      <p:sp>
        <p:nvSpPr>
          <p:cNvPr id="12" name="Shape 10"/>
          <p:cNvSpPr/>
          <p:nvPr/>
        </p:nvSpPr>
        <p:spPr>
          <a:xfrm>
            <a:off x="640080" y="3520440"/>
            <a:ext cx="502920" cy="502920"/>
          </a:xfrm>
          <a:prstGeom prst="ellipse">
            <a:avLst/>
          </a:prstGeom>
          <a:solidFill>
            <a:srgbClr val="1E2761"/>
          </a:solidFill>
          <a:ln/>
        </p:spPr>
      </p:sp>
      <p:sp>
        <p:nvSpPr>
          <p:cNvPr id="13" name="Text 11"/>
          <p:cNvSpPr/>
          <p:nvPr/>
        </p:nvSpPr>
        <p:spPr>
          <a:xfrm>
            <a:off x="640080" y="3520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25880" y="3474720"/>
            <a:ext cx="699516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High-Stakes Moments</a:t>
            </a:r>
            <a:endParaRPr lang="en-US" sz="1600" dirty="0"/>
          </a:p>
        </p:txBody>
      </p:sp>
      <p:sp>
        <p:nvSpPr>
          <p:cNvPr id="15" name="Text 13"/>
          <p:cNvSpPr/>
          <p:nvPr/>
        </p:nvSpPr>
        <p:spPr>
          <a:xfrm>
            <a:off x="1325880" y="3794760"/>
            <a:ext cx="699516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An angry, escalating client needs calm, precise wording fast — and mistakes here are costly.</a:t>
            </a:r>
            <a:endParaRPr lang="en-US" sz="1250" dirty="0"/>
          </a:p>
        </p:txBody>
      </p:sp>
      <p:sp>
        <p:nvSpPr>
          <p:cNvPr id="16" name="Shape 14"/>
          <p:cNvSpPr/>
          <p:nvPr/>
        </p:nvSpPr>
        <p:spPr>
          <a:xfrm>
            <a:off x="8686800" y="1600200"/>
            <a:ext cx="2926080" cy="4297680"/>
          </a:xfrm>
          <a:prstGeom prst="roundRect">
            <a:avLst>
              <a:gd name="adj" fmla="val 2500"/>
            </a:avLst>
          </a:prstGeom>
          <a:solidFill>
            <a:srgbClr val="1E2761"/>
          </a:solidFill>
          <a:ln/>
          <a:effectLst>
            <a:outerShdw blurRad="76200" dist="25400" dir="5400000" algn="bl" rotWithShape="0">
              <a:srgbClr val="9AA5B1">
                <a:alpha val="25000"/>
              </a:srgbClr>
            </a:outerShdw>
          </a:effectLst>
        </p:spPr>
      </p:sp>
      <p:sp>
        <p:nvSpPr>
          <p:cNvPr id="17" name="Text 15"/>
          <p:cNvSpPr/>
          <p:nvPr/>
        </p:nvSpPr>
        <p:spPr>
          <a:xfrm>
            <a:off x="8915400" y="2834640"/>
            <a:ext cx="2468880" cy="1828800"/>
          </a:xfrm>
          <a:prstGeom prst="rect">
            <a:avLst/>
          </a:prstGeom>
          <a:noFill/>
          <a:ln/>
        </p:spPr>
        <p:txBody>
          <a:bodyPr wrap="square" lIns="0" tIns="0" rIns="0" bIns="0" rtlCol="0" anchor="ctr"/>
          <a:lstStyle/>
          <a:p>
            <a:pPr marL="0" indent="0" algn="l">
              <a:buNone/>
            </a:pPr>
            <a:r>
              <a:rPr lang="en-US" sz="1700" i="1" dirty="0">
                <a:solidFill>
                  <a:srgbClr val="FFFFFF"/>
                </a:solidFill>
                <a:latin typeface="Cambria" pitchFamily="34" charset="0"/>
                <a:ea typeface="Cambria" pitchFamily="34" charset="-122"/>
                <a:cs typeface="Cambria" pitchFamily="34" charset="-120"/>
              </a:rPr>
              <a:t>"One wrong email</a:t>
            </a:r>
            <a:endParaRPr lang="en-US" sz="1700" dirty="0"/>
          </a:p>
          <a:p>
            <a:pPr marL="0" indent="0" algn="l">
              <a:buNone/>
            </a:pPr>
            <a:r>
              <a:rPr lang="en-US" sz="1700" i="1" dirty="0">
                <a:solidFill>
                  <a:srgbClr val="FFFFFF"/>
                </a:solidFill>
                <a:latin typeface="Cambria" pitchFamily="34" charset="0"/>
                <a:ea typeface="Cambria" pitchFamily="34" charset="-122"/>
                <a:cs typeface="Cambria" pitchFamily="34" charset="-120"/>
              </a:rPr>
              <a:t>can cost a</a:t>
            </a:r>
            <a:endParaRPr lang="en-US" sz="1700" dirty="0"/>
          </a:p>
          <a:p>
            <a:pPr marL="0" indent="0" algn="l">
              <a:buNone/>
            </a:pPr>
            <a:r>
              <a:rPr lang="en-US" sz="1700" i="1" dirty="0">
                <a:solidFill>
                  <a:srgbClr val="FFFFFF"/>
                </a:solidFill>
                <a:latin typeface="Cambria" pitchFamily="34" charset="0"/>
                <a:ea typeface="Cambria" pitchFamily="34" charset="-122"/>
                <a:cs typeface="Cambria" pitchFamily="34" charset="-120"/>
              </a:rPr>
              <a:t>client relationship."</a:t>
            </a:r>
            <a:endParaRPr lang="en-US" sz="1700" dirty="0"/>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Solution</a:t>
            </a:r>
            <a:endParaRPr lang="en-US" sz="3200" dirty="0"/>
          </a:p>
        </p:txBody>
      </p:sp>
      <p:sp>
        <p:nvSpPr>
          <p:cNvPr id="4" name="Shape 2"/>
          <p:cNvSpPr/>
          <p:nvPr/>
        </p:nvSpPr>
        <p:spPr>
          <a:xfrm>
            <a:off x="640080" y="1737360"/>
            <a:ext cx="384048" cy="384048"/>
          </a:xfrm>
          <a:prstGeom prst="ellipse">
            <a:avLst/>
          </a:prstGeom>
          <a:solidFill>
            <a:srgbClr val="1E2761"/>
          </a:solidFill>
          <a:ln/>
        </p:spPr>
      </p:sp>
      <p:sp>
        <p:nvSpPr>
          <p:cNvPr id="5" name="Text 3"/>
          <p:cNvSpPr/>
          <p:nvPr/>
        </p:nvSpPr>
        <p:spPr>
          <a:xfrm>
            <a:off x="640080"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691640"/>
            <a:ext cx="5943600" cy="32004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RAG-Grounded</a:t>
            </a:r>
            <a:endParaRPr lang="en-US" sz="1500" dirty="0"/>
          </a:p>
        </p:txBody>
      </p:sp>
      <p:sp>
        <p:nvSpPr>
          <p:cNvPr id="7" name="Text 5"/>
          <p:cNvSpPr/>
          <p:nvPr/>
        </p:nvSpPr>
        <p:spPr>
          <a:xfrm>
            <a:off x="1188720" y="2029968"/>
            <a:ext cx="6035040" cy="5029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Generation is grounded in a real company dataset of tone and scenarios — not generic AI output.</a:t>
            </a:r>
            <a:endParaRPr lang="en-US" sz="1150" dirty="0"/>
          </a:p>
        </p:txBody>
      </p:sp>
      <p:sp>
        <p:nvSpPr>
          <p:cNvPr id="8" name="Shape 6"/>
          <p:cNvSpPr/>
          <p:nvPr/>
        </p:nvSpPr>
        <p:spPr>
          <a:xfrm>
            <a:off x="640080" y="2788920"/>
            <a:ext cx="384048" cy="384048"/>
          </a:xfrm>
          <a:prstGeom prst="ellipse">
            <a:avLst/>
          </a:prstGeom>
          <a:solidFill>
            <a:srgbClr val="1E2761"/>
          </a:solidFill>
          <a:ln/>
        </p:spPr>
      </p:sp>
      <p:sp>
        <p:nvSpPr>
          <p:cNvPr id="9" name="Text 7"/>
          <p:cNvSpPr/>
          <p:nvPr/>
        </p:nvSpPr>
        <p:spPr>
          <a:xfrm>
            <a:off x="640080" y="2788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743200"/>
            <a:ext cx="5943600" cy="32004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Gemini-Powered</a:t>
            </a:r>
            <a:endParaRPr lang="en-US" sz="1500" dirty="0"/>
          </a:p>
        </p:txBody>
      </p:sp>
      <p:sp>
        <p:nvSpPr>
          <p:cNvPr id="11" name="Text 9"/>
          <p:cNvSpPr/>
          <p:nvPr/>
        </p:nvSpPr>
        <p:spPr>
          <a:xfrm>
            <a:off x="1188720" y="3081528"/>
            <a:ext cx="6035040" cy="5029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Google's Gemini models handle both semantic retrieval and email generation.</a:t>
            </a:r>
            <a:endParaRPr lang="en-US" sz="1150" dirty="0"/>
          </a:p>
        </p:txBody>
      </p:sp>
      <p:sp>
        <p:nvSpPr>
          <p:cNvPr id="12" name="Shape 10"/>
          <p:cNvSpPr/>
          <p:nvPr/>
        </p:nvSpPr>
        <p:spPr>
          <a:xfrm>
            <a:off x="640080" y="3840480"/>
            <a:ext cx="384048" cy="384048"/>
          </a:xfrm>
          <a:prstGeom prst="ellipse">
            <a:avLst/>
          </a:prstGeom>
          <a:solidFill>
            <a:srgbClr val="1E2761"/>
          </a:solidFill>
          <a:ln/>
        </p:spPr>
      </p:sp>
      <p:sp>
        <p:nvSpPr>
          <p:cNvPr id="13" name="Text 11"/>
          <p:cNvSpPr/>
          <p:nvPr/>
        </p:nvSpPr>
        <p:spPr>
          <a:xfrm>
            <a:off x="640080" y="3840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88720" y="3794760"/>
            <a:ext cx="5943600" cy="32004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Strictly Scoped</a:t>
            </a:r>
            <a:endParaRPr lang="en-US" sz="1500" dirty="0"/>
          </a:p>
        </p:txBody>
      </p:sp>
      <p:sp>
        <p:nvSpPr>
          <p:cNvPr id="15" name="Text 13"/>
          <p:cNvSpPr/>
          <p:nvPr/>
        </p:nvSpPr>
        <p:spPr>
          <a:xfrm>
            <a:off x="1188720" y="4133088"/>
            <a:ext cx="6035040" cy="5029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Two-layer guardrail keeps the tool to client emails only — everything else is refused.</a:t>
            </a:r>
            <a:endParaRPr lang="en-US" sz="1150" dirty="0"/>
          </a:p>
        </p:txBody>
      </p:sp>
      <p:sp>
        <p:nvSpPr>
          <p:cNvPr id="16" name="Shape 14"/>
          <p:cNvSpPr/>
          <p:nvPr/>
        </p:nvSpPr>
        <p:spPr>
          <a:xfrm>
            <a:off x="640080" y="4892040"/>
            <a:ext cx="384048" cy="384048"/>
          </a:xfrm>
          <a:prstGeom prst="ellipse">
            <a:avLst/>
          </a:prstGeom>
          <a:solidFill>
            <a:srgbClr val="1E2761"/>
          </a:solidFill>
          <a:ln/>
        </p:spPr>
      </p:sp>
      <p:sp>
        <p:nvSpPr>
          <p:cNvPr id="17" name="Text 15"/>
          <p:cNvSpPr/>
          <p:nvPr/>
        </p:nvSpPr>
        <p:spPr>
          <a:xfrm>
            <a:off x="640080" y="4892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188720" y="4846320"/>
            <a:ext cx="5943600" cy="32004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Fully Auditable</a:t>
            </a:r>
            <a:endParaRPr lang="en-US" sz="1500" dirty="0"/>
          </a:p>
        </p:txBody>
      </p:sp>
      <p:sp>
        <p:nvSpPr>
          <p:cNvPr id="19" name="Text 17"/>
          <p:cNvSpPr/>
          <p:nvPr/>
        </p:nvSpPr>
        <p:spPr>
          <a:xfrm>
            <a:off x="1188720" y="5184648"/>
            <a:ext cx="6035040" cy="5029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Every prompt and every generated email is logged for admin review.</a:t>
            </a:r>
            <a:endParaRPr lang="en-US" sz="1150" dirty="0"/>
          </a:p>
        </p:txBody>
      </p:sp>
      <p:sp>
        <p:nvSpPr>
          <p:cNvPr id="20" name="Shape 18"/>
          <p:cNvSpPr/>
          <p:nvPr/>
        </p:nvSpPr>
        <p:spPr>
          <a:xfrm>
            <a:off x="7589520" y="1737360"/>
            <a:ext cx="3977640" cy="4480560"/>
          </a:xfrm>
          <a:prstGeom prst="roundRect">
            <a:avLst>
              <a:gd name="adj" fmla="val 1839"/>
            </a:avLst>
          </a:prstGeom>
          <a:solidFill>
            <a:srgbClr val="EEF2FB"/>
          </a:solidFill>
          <a:ln/>
          <a:effectLst>
            <a:outerShdw blurRad="76200" dist="25400" dir="5400000" algn="bl" rotWithShape="0">
              <a:srgbClr val="9AA5B1">
                <a:alpha val="25000"/>
              </a:srgbClr>
            </a:outerShdw>
          </a:effectLst>
        </p:spPr>
      </p:sp>
      <p:sp>
        <p:nvSpPr>
          <p:cNvPr id="21" name="Text 19"/>
          <p:cNvSpPr/>
          <p:nvPr/>
        </p:nvSpPr>
        <p:spPr>
          <a:xfrm>
            <a:off x="7863840" y="1920240"/>
            <a:ext cx="3474720" cy="274320"/>
          </a:xfrm>
          <a:prstGeom prst="rect">
            <a:avLst/>
          </a:prstGeom>
          <a:noFill/>
          <a:ln/>
        </p:spPr>
        <p:txBody>
          <a:bodyPr wrap="square"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EXAMPLE</a:t>
            </a:r>
            <a:endParaRPr lang="en-US" sz="1000" dirty="0"/>
          </a:p>
        </p:txBody>
      </p:sp>
      <p:sp>
        <p:nvSpPr>
          <p:cNvPr id="22" name="Shape 20"/>
          <p:cNvSpPr/>
          <p:nvPr/>
        </p:nvSpPr>
        <p:spPr>
          <a:xfrm>
            <a:off x="7863840" y="2286000"/>
            <a:ext cx="3429000" cy="1280160"/>
          </a:xfrm>
          <a:prstGeom prst="roundRect">
            <a:avLst>
              <a:gd name="adj" fmla="val 4286"/>
            </a:avLst>
          </a:prstGeom>
          <a:solidFill>
            <a:srgbClr val="FFFFFF"/>
          </a:solidFill>
          <a:ln w="12700">
            <a:solidFill>
              <a:srgbClr val="D8DEEC"/>
            </a:solidFill>
            <a:prstDash val="solid"/>
          </a:ln>
        </p:spPr>
      </p:sp>
      <p:sp>
        <p:nvSpPr>
          <p:cNvPr id="23" name="Text 21"/>
          <p:cNvSpPr/>
          <p:nvPr/>
        </p:nvSpPr>
        <p:spPr>
          <a:xfrm>
            <a:off x="8001000" y="2359152"/>
            <a:ext cx="3108960" cy="27432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Input prompt</a:t>
            </a:r>
            <a:endParaRPr lang="en-US" sz="950" dirty="0"/>
          </a:p>
        </p:txBody>
      </p:sp>
      <p:sp>
        <p:nvSpPr>
          <p:cNvPr id="24" name="Text 22"/>
          <p:cNvSpPr/>
          <p:nvPr/>
        </p:nvSpPr>
        <p:spPr>
          <a:xfrm>
            <a:off x="8001000" y="2633472"/>
            <a:ext cx="3108960" cy="868680"/>
          </a:xfrm>
          <a:prstGeom prst="rect">
            <a:avLst/>
          </a:prstGeom>
          <a:noFill/>
          <a:ln/>
        </p:spPr>
        <p:txBody>
          <a:bodyPr wrap="square" lIns="0" tIns="0" rIns="0" bIns="0" rtlCol="0" anchor="t"/>
          <a:lstStyle/>
          <a:p>
            <a:r>
              <a:rPr lang="en-US" sz="1000" i="1" dirty="0" smtClean="0">
                <a:solidFill>
                  <a:srgbClr val="1F2937"/>
                </a:solidFill>
                <a:latin typeface="Calibri" pitchFamily="34" charset="0"/>
                <a:ea typeface="Calibri" pitchFamily="34" charset="-122"/>
                <a:cs typeface="Calibri" pitchFamily="34" charset="-120"/>
              </a:rPr>
              <a:t>“</a:t>
            </a:r>
            <a:r>
              <a:rPr lang="en-US" sz="1000" dirty="0"/>
              <a:t>The client is very upset because the delivery was delayed by one week. We need to calm the client down and request an additional three days to complete the remaining work.</a:t>
            </a:r>
            <a:r>
              <a:rPr lang="en-US" sz="1000" i="1" dirty="0" smtClean="0">
                <a:solidFill>
                  <a:srgbClr val="1F2937"/>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9555480" y="3657600"/>
            <a:ext cx="0" cy="320040"/>
          </a:xfrm>
          <a:prstGeom prst="line">
            <a:avLst/>
          </a:prstGeom>
          <a:noFill/>
          <a:ln w="25400">
            <a:solidFill>
              <a:srgbClr val="3A468C"/>
            </a:solidFill>
            <a:prstDash val="solid"/>
            <a:tailEnd type="triangle"/>
          </a:ln>
        </p:spPr>
      </p:sp>
      <p:sp>
        <p:nvSpPr>
          <p:cNvPr id="26" name="Shape 24"/>
          <p:cNvSpPr/>
          <p:nvPr/>
        </p:nvSpPr>
        <p:spPr>
          <a:xfrm>
            <a:off x="7863840" y="4069080"/>
            <a:ext cx="3429000" cy="1965960"/>
          </a:xfrm>
          <a:prstGeom prst="roundRect">
            <a:avLst>
              <a:gd name="adj" fmla="val 2791"/>
            </a:avLst>
          </a:prstGeom>
          <a:solidFill>
            <a:srgbClr val="1E2761"/>
          </a:solidFill>
          <a:ln/>
        </p:spPr>
      </p:sp>
      <p:sp>
        <p:nvSpPr>
          <p:cNvPr id="27" name="Text 25"/>
          <p:cNvSpPr/>
          <p:nvPr/>
        </p:nvSpPr>
        <p:spPr>
          <a:xfrm>
            <a:off x="8001000" y="4160520"/>
            <a:ext cx="3108960" cy="274320"/>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Generated email</a:t>
            </a:r>
            <a:endParaRPr lang="en-US" sz="950" dirty="0"/>
          </a:p>
        </p:txBody>
      </p:sp>
      <p:sp>
        <p:nvSpPr>
          <p:cNvPr id="28" name="Text 26"/>
          <p:cNvSpPr/>
          <p:nvPr/>
        </p:nvSpPr>
        <p:spPr>
          <a:xfrm>
            <a:off x="8001000" y="4434840"/>
            <a:ext cx="3108960" cy="1508760"/>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Subject: Update on Project Timeline</a:t>
            </a:r>
            <a:endParaRPr lang="en-US" sz="950" dirty="0"/>
          </a:p>
          <a:p>
            <a:pPr marL="0" indent="0">
              <a:buNone/>
            </a:pP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I want to acknowledge upfront that we did not meet the timeline we committed to...</a:t>
            </a:r>
            <a:endParaRPr lang="en-US" sz="950" dirty="0"/>
          </a:p>
        </p:txBody>
      </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HOW IT ALL FITS TOGETHER</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548640" y="2103120"/>
            <a:ext cx="2651760" cy="1371600"/>
          </a:xfrm>
          <a:prstGeom prst="roundRect">
            <a:avLst>
              <a:gd name="adj" fmla="val 5333"/>
            </a:avLst>
          </a:prstGeom>
          <a:solidFill>
            <a:srgbClr val="EEF2FB"/>
          </a:solidFill>
          <a:ln/>
          <a:effectLst>
            <a:outerShdw blurRad="76200" dist="25400" dir="5400000" algn="bl" rotWithShape="0">
              <a:srgbClr val="9AA5B1">
                <a:alpha val="25000"/>
              </a:srgbClr>
            </a:outerShdw>
          </a:effectLst>
        </p:spPr>
      </p:sp>
      <p:sp>
        <p:nvSpPr>
          <p:cNvPr id="5" name="Text 3"/>
          <p:cNvSpPr/>
          <p:nvPr/>
        </p:nvSpPr>
        <p:spPr>
          <a:xfrm>
            <a:off x="731520" y="2331720"/>
            <a:ext cx="228600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User Browser</a:t>
            </a:r>
            <a:endParaRPr lang="en-US" sz="1400" dirty="0"/>
          </a:p>
        </p:txBody>
      </p:sp>
      <p:sp>
        <p:nvSpPr>
          <p:cNvPr id="6" name="Text 4"/>
          <p:cNvSpPr/>
          <p:nvPr/>
        </p:nvSpPr>
        <p:spPr>
          <a:xfrm>
            <a:off x="731520" y="2697480"/>
            <a:ext cx="2286000" cy="64008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Next.js UI</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(Login, Dashboard, Admin)</a:t>
            </a:r>
            <a:endParaRPr lang="en-US" sz="1050" dirty="0"/>
          </a:p>
        </p:txBody>
      </p:sp>
      <p:sp>
        <p:nvSpPr>
          <p:cNvPr id="7" name="Shape 5"/>
          <p:cNvSpPr/>
          <p:nvPr/>
        </p:nvSpPr>
        <p:spPr>
          <a:xfrm>
            <a:off x="3246120" y="2788920"/>
            <a:ext cx="685800" cy="0"/>
          </a:xfrm>
          <a:prstGeom prst="line">
            <a:avLst/>
          </a:prstGeom>
          <a:noFill/>
          <a:ln w="25400">
            <a:solidFill>
              <a:srgbClr val="3A468C"/>
            </a:solidFill>
            <a:prstDash val="solid"/>
            <a:tailEnd type="triangle"/>
          </a:ln>
        </p:spPr>
      </p:sp>
      <p:sp>
        <p:nvSpPr>
          <p:cNvPr id="8" name="Shape 6"/>
          <p:cNvSpPr/>
          <p:nvPr/>
        </p:nvSpPr>
        <p:spPr>
          <a:xfrm>
            <a:off x="3977640" y="2103120"/>
            <a:ext cx="3108960" cy="1371600"/>
          </a:xfrm>
          <a:prstGeom prst="roundRect">
            <a:avLst>
              <a:gd name="adj" fmla="val 5333"/>
            </a:avLst>
          </a:prstGeom>
          <a:solidFill>
            <a:srgbClr val="1E2761"/>
          </a:solidFill>
          <a:ln/>
          <a:effectLst>
            <a:outerShdw blurRad="76200" dist="25400" dir="5400000" algn="bl" rotWithShape="0">
              <a:srgbClr val="9AA5B1">
                <a:alpha val="25000"/>
              </a:srgbClr>
            </a:outerShdw>
          </a:effectLst>
        </p:spPr>
      </p:sp>
      <p:sp>
        <p:nvSpPr>
          <p:cNvPr id="9" name="Text 7"/>
          <p:cNvSpPr/>
          <p:nvPr/>
        </p:nvSpPr>
        <p:spPr>
          <a:xfrm>
            <a:off x="4160520" y="2331720"/>
            <a:ext cx="27432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Next.js API Routes</a:t>
            </a:r>
            <a:endParaRPr lang="en-US" sz="1400" dirty="0"/>
          </a:p>
        </p:txBody>
      </p:sp>
      <p:sp>
        <p:nvSpPr>
          <p:cNvPr id="10" name="Text 8"/>
          <p:cNvSpPr/>
          <p:nvPr/>
        </p:nvSpPr>
        <p:spPr>
          <a:xfrm>
            <a:off x="4160520" y="2697480"/>
            <a:ext cx="2743200" cy="68580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Hosted on Vercel (serverless)</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Auth check → RAG → Guardrail → Generate → Log</a:t>
            </a:r>
            <a:endParaRPr lang="en-US" sz="1000" dirty="0"/>
          </a:p>
        </p:txBody>
      </p:sp>
      <p:sp>
        <p:nvSpPr>
          <p:cNvPr id="11" name="Shape 9"/>
          <p:cNvSpPr/>
          <p:nvPr/>
        </p:nvSpPr>
        <p:spPr>
          <a:xfrm>
            <a:off x="4846320" y="3520440"/>
            <a:ext cx="0" cy="914400"/>
          </a:xfrm>
          <a:prstGeom prst="line">
            <a:avLst/>
          </a:prstGeom>
          <a:noFill/>
          <a:ln w="25400">
            <a:solidFill>
              <a:srgbClr val="3A468C"/>
            </a:solidFill>
            <a:prstDash val="solid"/>
            <a:tailEnd type="triangle"/>
          </a:ln>
        </p:spPr>
      </p:sp>
      <p:sp>
        <p:nvSpPr>
          <p:cNvPr id="12" name="Shape 10"/>
          <p:cNvSpPr/>
          <p:nvPr/>
        </p:nvSpPr>
        <p:spPr>
          <a:xfrm>
            <a:off x="6537960" y="3520440"/>
            <a:ext cx="0" cy="914400"/>
          </a:xfrm>
          <a:prstGeom prst="line">
            <a:avLst/>
          </a:prstGeom>
          <a:noFill/>
          <a:ln w="25400">
            <a:solidFill>
              <a:srgbClr val="3A468C"/>
            </a:solidFill>
            <a:prstDash val="solid"/>
            <a:tailEnd type="triangle"/>
          </a:ln>
        </p:spPr>
      </p:sp>
      <p:sp>
        <p:nvSpPr>
          <p:cNvPr id="13" name="Shape 11"/>
          <p:cNvSpPr/>
          <p:nvPr/>
        </p:nvSpPr>
        <p:spPr>
          <a:xfrm>
            <a:off x="3291840" y="4480560"/>
            <a:ext cx="2834640" cy="1737360"/>
          </a:xfrm>
          <a:prstGeom prst="roundRect">
            <a:avLst>
              <a:gd name="adj" fmla="val 4211"/>
            </a:avLst>
          </a:prstGeom>
          <a:solidFill>
            <a:srgbClr val="EEF2FB"/>
          </a:solidFill>
          <a:ln/>
          <a:effectLst>
            <a:outerShdw blurRad="76200" dist="25400" dir="5400000" algn="bl" rotWithShape="0">
              <a:srgbClr val="9AA5B1">
                <a:alpha val="25000"/>
              </a:srgbClr>
            </a:outerShdw>
          </a:effectLst>
        </p:spPr>
      </p:sp>
      <p:sp>
        <p:nvSpPr>
          <p:cNvPr id="14" name="Text 12"/>
          <p:cNvSpPr/>
          <p:nvPr/>
        </p:nvSpPr>
        <p:spPr>
          <a:xfrm>
            <a:off x="3474720" y="4663440"/>
            <a:ext cx="246888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Supabase</a:t>
            </a:r>
            <a:endParaRPr lang="en-US" sz="1400" dirty="0"/>
          </a:p>
        </p:txBody>
      </p:sp>
      <p:sp>
        <p:nvSpPr>
          <p:cNvPr id="15" name="Text 13"/>
          <p:cNvSpPr/>
          <p:nvPr/>
        </p:nvSpPr>
        <p:spPr>
          <a:xfrm>
            <a:off x="3474720" y="5029200"/>
            <a:ext cx="2468880" cy="109728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 Auth (signup / login)</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 Postgres (profiles, logs)</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 pgvector (embeddings)</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 Row Level Security</a:t>
            </a:r>
            <a:endParaRPr lang="en-US" sz="1050" dirty="0"/>
          </a:p>
        </p:txBody>
      </p:sp>
      <p:sp>
        <p:nvSpPr>
          <p:cNvPr id="16" name="Shape 14"/>
          <p:cNvSpPr/>
          <p:nvPr/>
        </p:nvSpPr>
        <p:spPr>
          <a:xfrm>
            <a:off x="6400800" y="4480560"/>
            <a:ext cx="2834640" cy="1737360"/>
          </a:xfrm>
          <a:prstGeom prst="roundRect">
            <a:avLst>
              <a:gd name="adj" fmla="val 4211"/>
            </a:avLst>
          </a:prstGeom>
          <a:solidFill>
            <a:srgbClr val="EEF2FB"/>
          </a:solidFill>
          <a:ln/>
          <a:effectLst>
            <a:outerShdw blurRad="76200" dist="25400" dir="5400000" algn="bl" rotWithShape="0">
              <a:srgbClr val="9AA5B1">
                <a:alpha val="25000"/>
              </a:srgbClr>
            </a:outerShdw>
          </a:effectLst>
        </p:spPr>
      </p:sp>
      <p:sp>
        <p:nvSpPr>
          <p:cNvPr id="17" name="Text 15"/>
          <p:cNvSpPr/>
          <p:nvPr/>
        </p:nvSpPr>
        <p:spPr>
          <a:xfrm>
            <a:off x="6583680" y="4663440"/>
            <a:ext cx="246888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Google Gemini API</a:t>
            </a:r>
            <a:endParaRPr lang="en-US" sz="1400" dirty="0"/>
          </a:p>
        </p:txBody>
      </p:sp>
      <p:sp>
        <p:nvSpPr>
          <p:cNvPr id="18" name="Text 16"/>
          <p:cNvSpPr/>
          <p:nvPr/>
        </p:nvSpPr>
        <p:spPr>
          <a:xfrm>
            <a:off x="6583680" y="5029200"/>
            <a:ext cx="2468880" cy="109728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 gemini-embedding-001</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  (text → vector)</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 gemini-3.5-flash-lite</a:t>
            </a:r>
            <a:endParaRPr lang="en-US" sz="1050" dirty="0"/>
          </a:p>
          <a:p>
            <a:pPr marL="0" indent="0">
              <a:buNone/>
            </a:pPr>
            <a:r>
              <a:rPr lang="en-US" sz="1050" dirty="0">
                <a:solidFill>
                  <a:srgbClr val="6B7280"/>
                </a:solidFill>
                <a:latin typeface="Calibri" pitchFamily="34" charset="0"/>
                <a:ea typeface="Calibri" pitchFamily="34" charset="-122"/>
                <a:cs typeface="Calibri" pitchFamily="34" charset="-120"/>
              </a:rPr>
              <a:t>  (email generation)</a:t>
            </a:r>
            <a:endParaRPr lang="en-US" sz="1050" dirty="0"/>
          </a:p>
        </p:txBody>
      </p:sp>
      <p:sp>
        <p:nvSpPr>
          <p:cNvPr id="19" name="Text 17"/>
          <p:cNvSpPr/>
          <p:nvPr/>
        </p:nvSpPr>
        <p:spPr>
          <a:xfrm>
            <a:off x="7635240" y="2331720"/>
            <a:ext cx="3931920" cy="822960"/>
          </a:xfrm>
          <a:prstGeom prst="rect">
            <a:avLst/>
          </a:prstGeom>
          <a:noFill/>
          <a:ln/>
        </p:spPr>
        <p:txBody>
          <a:bodyPr wrap="square" lIns="0" tIns="0" rIns="0" bIns="0" rtlCol="0" anchor="t"/>
          <a:lstStyle/>
          <a:p>
            <a:pPr marL="0" indent="0">
              <a:buNone/>
            </a:pPr>
            <a:r>
              <a:rPr lang="en-US" sz="1100" i="1" dirty="0">
                <a:solidFill>
                  <a:srgbClr val="6B7280"/>
                </a:solidFill>
                <a:latin typeface="Calibri" pitchFamily="34" charset="0"/>
                <a:ea typeface="Calibri" pitchFamily="34" charset="-122"/>
                <a:cs typeface="Calibri" pitchFamily="34" charset="-120"/>
              </a:rPr>
              <a:t>Hosted on Vercel — see Deployment Pipeline for full details</a:t>
            </a:r>
            <a:endParaRPr lang="en-US" sz="110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WHAT IT'S BUILT WITH</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Technology Stack</a:t>
            </a:r>
            <a:endParaRPr lang="en-US" sz="3200" dirty="0"/>
          </a:p>
        </p:txBody>
      </p:sp>
      <p:sp>
        <p:nvSpPr>
          <p:cNvPr id="4" name="Shape 2"/>
          <p:cNvSpPr/>
          <p:nvPr/>
        </p:nvSpPr>
        <p:spPr>
          <a:xfrm>
            <a:off x="548640" y="1691640"/>
            <a:ext cx="3520440" cy="1874520"/>
          </a:xfrm>
          <a:prstGeom prst="roundRect">
            <a:avLst>
              <a:gd name="adj" fmla="val 3902"/>
            </a:avLst>
          </a:prstGeom>
          <a:solidFill>
            <a:srgbClr val="EEF2FB"/>
          </a:solidFill>
          <a:ln/>
          <a:effectLst>
            <a:outerShdw blurRad="76200" dist="25400" dir="5400000" algn="bl" rotWithShape="0">
              <a:srgbClr val="9AA5B1">
                <a:alpha val="25000"/>
              </a:srgbClr>
            </a:outerShdw>
          </a:effectLst>
        </p:spPr>
      </p:sp>
      <p:sp>
        <p:nvSpPr>
          <p:cNvPr id="5" name="Shape 3"/>
          <p:cNvSpPr/>
          <p:nvPr/>
        </p:nvSpPr>
        <p:spPr>
          <a:xfrm>
            <a:off x="777240" y="1920240"/>
            <a:ext cx="502920" cy="502920"/>
          </a:xfrm>
          <a:prstGeom prst="ellipse">
            <a:avLst/>
          </a:prstGeom>
          <a:solidFill>
            <a:srgbClr val="1E2761"/>
          </a:solidFill>
          <a:ln/>
        </p:spPr>
      </p:sp>
      <p:sp>
        <p:nvSpPr>
          <p:cNvPr id="6" name="Text 4"/>
          <p:cNvSpPr/>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t>
            </a:r>
            <a:endParaRPr lang="en-US" sz="1300" dirty="0"/>
          </a:p>
        </p:txBody>
      </p:sp>
      <p:sp>
        <p:nvSpPr>
          <p:cNvPr id="7" name="Text 5"/>
          <p:cNvSpPr/>
          <p:nvPr/>
        </p:nvSpPr>
        <p:spPr>
          <a:xfrm>
            <a:off x="777240" y="2560320"/>
            <a:ext cx="310896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Next.js 14</a:t>
            </a:r>
            <a:endParaRPr lang="en-US" sz="1400" dirty="0"/>
          </a:p>
        </p:txBody>
      </p:sp>
      <p:sp>
        <p:nvSpPr>
          <p:cNvPr id="8" name="Text 6"/>
          <p:cNvSpPr/>
          <p:nvPr/>
        </p:nvSpPr>
        <p:spPr>
          <a:xfrm>
            <a:off x="777240" y="2880360"/>
            <a:ext cx="3108960" cy="59436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App Router, React Server Components, API routes</a:t>
            </a:r>
            <a:endParaRPr lang="en-US" sz="1050" dirty="0"/>
          </a:p>
        </p:txBody>
      </p:sp>
      <p:sp>
        <p:nvSpPr>
          <p:cNvPr id="9" name="Shape 7"/>
          <p:cNvSpPr/>
          <p:nvPr/>
        </p:nvSpPr>
        <p:spPr>
          <a:xfrm>
            <a:off x="4251960" y="1691640"/>
            <a:ext cx="3520440" cy="1874520"/>
          </a:xfrm>
          <a:prstGeom prst="roundRect">
            <a:avLst>
              <a:gd name="adj" fmla="val 3902"/>
            </a:avLst>
          </a:prstGeom>
          <a:solidFill>
            <a:srgbClr val="EEF2FB"/>
          </a:solidFill>
          <a:ln/>
          <a:effectLst>
            <a:outerShdw blurRad="76200" dist="25400" dir="5400000" algn="bl" rotWithShape="0">
              <a:srgbClr val="9AA5B1">
                <a:alpha val="25000"/>
              </a:srgbClr>
            </a:outerShdw>
          </a:effectLst>
        </p:spPr>
      </p:sp>
      <p:sp>
        <p:nvSpPr>
          <p:cNvPr id="10" name="Shape 8"/>
          <p:cNvSpPr/>
          <p:nvPr/>
        </p:nvSpPr>
        <p:spPr>
          <a:xfrm>
            <a:off x="4480560" y="1920240"/>
            <a:ext cx="502920" cy="502920"/>
          </a:xfrm>
          <a:prstGeom prst="ellipse">
            <a:avLst/>
          </a:prstGeom>
          <a:solidFill>
            <a:srgbClr val="1E2761"/>
          </a:solidFill>
          <a:ln/>
        </p:spPr>
      </p:sp>
      <p:sp>
        <p:nvSpPr>
          <p:cNvPr id="11" name="Text 9"/>
          <p:cNvSpPr/>
          <p:nvPr/>
        </p:nvSpPr>
        <p:spPr>
          <a:xfrm>
            <a:off x="448056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TS</a:t>
            </a:r>
            <a:endParaRPr lang="en-US" sz="1300" dirty="0"/>
          </a:p>
        </p:txBody>
      </p:sp>
      <p:sp>
        <p:nvSpPr>
          <p:cNvPr id="12" name="Text 10"/>
          <p:cNvSpPr/>
          <p:nvPr/>
        </p:nvSpPr>
        <p:spPr>
          <a:xfrm>
            <a:off x="4480560" y="2560320"/>
            <a:ext cx="310896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TypeScript</a:t>
            </a:r>
            <a:endParaRPr lang="en-US" sz="1400" dirty="0"/>
          </a:p>
        </p:txBody>
      </p:sp>
      <p:sp>
        <p:nvSpPr>
          <p:cNvPr id="13" name="Text 11"/>
          <p:cNvSpPr/>
          <p:nvPr/>
        </p:nvSpPr>
        <p:spPr>
          <a:xfrm>
            <a:off x="4480560" y="2880360"/>
            <a:ext cx="3108960" cy="59436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Type-safe across frontend and backend</a:t>
            </a:r>
            <a:endParaRPr lang="en-US" sz="1050" dirty="0"/>
          </a:p>
        </p:txBody>
      </p:sp>
      <p:sp>
        <p:nvSpPr>
          <p:cNvPr id="14" name="Shape 12"/>
          <p:cNvSpPr/>
          <p:nvPr/>
        </p:nvSpPr>
        <p:spPr>
          <a:xfrm>
            <a:off x="7955280" y="1691640"/>
            <a:ext cx="3520440" cy="1874520"/>
          </a:xfrm>
          <a:prstGeom prst="roundRect">
            <a:avLst>
              <a:gd name="adj" fmla="val 3902"/>
            </a:avLst>
          </a:prstGeom>
          <a:solidFill>
            <a:srgbClr val="EEF2FB"/>
          </a:solidFill>
          <a:ln/>
          <a:effectLst>
            <a:outerShdw blurRad="76200" dist="25400" dir="5400000" algn="bl" rotWithShape="0">
              <a:srgbClr val="9AA5B1">
                <a:alpha val="25000"/>
              </a:srgbClr>
            </a:outerShdw>
          </a:effectLst>
        </p:spPr>
      </p:sp>
      <p:sp>
        <p:nvSpPr>
          <p:cNvPr id="15" name="Shape 13"/>
          <p:cNvSpPr/>
          <p:nvPr/>
        </p:nvSpPr>
        <p:spPr>
          <a:xfrm>
            <a:off x="8183880" y="1920240"/>
            <a:ext cx="502920" cy="502920"/>
          </a:xfrm>
          <a:prstGeom prst="ellipse">
            <a:avLst/>
          </a:prstGeom>
          <a:solidFill>
            <a:srgbClr val="1E2761"/>
          </a:solidFill>
          <a:ln/>
        </p:spPr>
      </p:sp>
      <p:sp>
        <p:nvSpPr>
          <p:cNvPr id="16" name="Text 14"/>
          <p:cNvSpPr/>
          <p:nvPr/>
        </p:nvSpPr>
        <p:spPr>
          <a:xfrm>
            <a:off x="818388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SB</a:t>
            </a:r>
            <a:endParaRPr lang="en-US" sz="1300" dirty="0"/>
          </a:p>
        </p:txBody>
      </p:sp>
      <p:sp>
        <p:nvSpPr>
          <p:cNvPr id="17" name="Text 15"/>
          <p:cNvSpPr/>
          <p:nvPr/>
        </p:nvSpPr>
        <p:spPr>
          <a:xfrm>
            <a:off x="8183880" y="2560320"/>
            <a:ext cx="310896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Supabase</a:t>
            </a:r>
            <a:endParaRPr lang="en-US" sz="1400" dirty="0"/>
          </a:p>
        </p:txBody>
      </p:sp>
      <p:sp>
        <p:nvSpPr>
          <p:cNvPr id="18" name="Text 16"/>
          <p:cNvSpPr/>
          <p:nvPr/>
        </p:nvSpPr>
        <p:spPr>
          <a:xfrm>
            <a:off x="8183880" y="2880360"/>
            <a:ext cx="3108960" cy="59436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Postgres database, Auth, and pgvector extension</a:t>
            </a:r>
            <a:endParaRPr lang="en-US" sz="1050" dirty="0"/>
          </a:p>
        </p:txBody>
      </p:sp>
      <p:sp>
        <p:nvSpPr>
          <p:cNvPr id="19" name="Shape 17"/>
          <p:cNvSpPr/>
          <p:nvPr/>
        </p:nvSpPr>
        <p:spPr>
          <a:xfrm>
            <a:off x="548640" y="3794760"/>
            <a:ext cx="3520440" cy="1874520"/>
          </a:xfrm>
          <a:prstGeom prst="roundRect">
            <a:avLst>
              <a:gd name="adj" fmla="val 3902"/>
            </a:avLst>
          </a:prstGeom>
          <a:solidFill>
            <a:srgbClr val="EEF2FB"/>
          </a:solidFill>
          <a:ln/>
          <a:effectLst>
            <a:outerShdw blurRad="76200" dist="25400" dir="5400000" algn="bl" rotWithShape="0">
              <a:srgbClr val="9AA5B1">
                <a:alpha val="25000"/>
              </a:srgbClr>
            </a:outerShdw>
          </a:effectLst>
        </p:spPr>
      </p:sp>
      <p:sp>
        <p:nvSpPr>
          <p:cNvPr id="20" name="Shape 18"/>
          <p:cNvSpPr/>
          <p:nvPr/>
        </p:nvSpPr>
        <p:spPr>
          <a:xfrm>
            <a:off x="777240" y="4023360"/>
            <a:ext cx="502920" cy="502920"/>
          </a:xfrm>
          <a:prstGeom prst="ellipse">
            <a:avLst/>
          </a:prstGeom>
          <a:solidFill>
            <a:srgbClr val="1E2761"/>
          </a:solidFill>
          <a:ln/>
        </p:spPr>
      </p:sp>
      <p:sp>
        <p:nvSpPr>
          <p:cNvPr id="21" name="Text 19"/>
          <p:cNvSpPr/>
          <p:nvPr/>
        </p:nvSpPr>
        <p:spPr>
          <a:xfrm>
            <a:off x="777240" y="40233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22" name="Text 20"/>
          <p:cNvSpPr/>
          <p:nvPr/>
        </p:nvSpPr>
        <p:spPr>
          <a:xfrm>
            <a:off x="777240" y="4663440"/>
            <a:ext cx="310896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Gemini API</a:t>
            </a:r>
            <a:endParaRPr lang="en-US" sz="1400" dirty="0"/>
          </a:p>
        </p:txBody>
      </p:sp>
      <p:sp>
        <p:nvSpPr>
          <p:cNvPr id="23" name="Text 21"/>
          <p:cNvSpPr/>
          <p:nvPr/>
        </p:nvSpPr>
        <p:spPr>
          <a:xfrm>
            <a:off x="777240" y="4983480"/>
            <a:ext cx="3108960" cy="59436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Embeddings + email generation (Google AI)</a:t>
            </a:r>
            <a:endParaRPr lang="en-US" sz="1050" dirty="0"/>
          </a:p>
        </p:txBody>
      </p:sp>
      <p:sp>
        <p:nvSpPr>
          <p:cNvPr id="24" name="Shape 22"/>
          <p:cNvSpPr/>
          <p:nvPr/>
        </p:nvSpPr>
        <p:spPr>
          <a:xfrm>
            <a:off x="4251960" y="3794760"/>
            <a:ext cx="3520440" cy="1874520"/>
          </a:xfrm>
          <a:prstGeom prst="roundRect">
            <a:avLst>
              <a:gd name="adj" fmla="val 3902"/>
            </a:avLst>
          </a:prstGeom>
          <a:solidFill>
            <a:srgbClr val="EEF2FB"/>
          </a:solidFill>
          <a:ln/>
          <a:effectLst>
            <a:outerShdw blurRad="76200" dist="25400" dir="5400000" algn="bl" rotWithShape="0">
              <a:srgbClr val="9AA5B1">
                <a:alpha val="25000"/>
              </a:srgbClr>
            </a:outerShdw>
          </a:effectLst>
        </p:spPr>
      </p:sp>
      <p:sp>
        <p:nvSpPr>
          <p:cNvPr id="25" name="Shape 23"/>
          <p:cNvSpPr/>
          <p:nvPr/>
        </p:nvSpPr>
        <p:spPr>
          <a:xfrm>
            <a:off x="4480560" y="4023360"/>
            <a:ext cx="502920" cy="502920"/>
          </a:xfrm>
          <a:prstGeom prst="ellipse">
            <a:avLst/>
          </a:prstGeom>
          <a:solidFill>
            <a:srgbClr val="1E2761"/>
          </a:solidFill>
          <a:ln/>
        </p:spPr>
      </p:sp>
      <p:sp>
        <p:nvSpPr>
          <p:cNvPr id="26" name="Text 24"/>
          <p:cNvSpPr/>
          <p:nvPr/>
        </p:nvSpPr>
        <p:spPr>
          <a:xfrm>
            <a:off x="4480560" y="40233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t>
            </a:r>
            <a:endParaRPr lang="en-US" sz="1300" dirty="0"/>
          </a:p>
        </p:txBody>
      </p:sp>
      <p:sp>
        <p:nvSpPr>
          <p:cNvPr id="27" name="Text 25"/>
          <p:cNvSpPr/>
          <p:nvPr/>
        </p:nvSpPr>
        <p:spPr>
          <a:xfrm>
            <a:off x="4480560" y="4663440"/>
            <a:ext cx="310896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Vercel</a:t>
            </a:r>
            <a:endParaRPr lang="en-US" sz="1400" dirty="0"/>
          </a:p>
        </p:txBody>
      </p:sp>
      <p:sp>
        <p:nvSpPr>
          <p:cNvPr id="28" name="Text 26"/>
          <p:cNvSpPr/>
          <p:nvPr/>
        </p:nvSpPr>
        <p:spPr>
          <a:xfrm>
            <a:off x="4480560" y="4983480"/>
            <a:ext cx="3108960" cy="59436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Hosting, CI/CD, serverless functions</a:t>
            </a:r>
            <a:endParaRPr lang="en-US" sz="1050" dirty="0"/>
          </a:p>
        </p:txBody>
      </p:sp>
      <p:sp>
        <p:nvSpPr>
          <p:cNvPr id="29" name="Shape 27"/>
          <p:cNvSpPr/>
          <p:nvPr/>
        </p:nvSpPr>
        <p:spPr>
          <a:xfrm>
            <a:off x="7955280" y="3794760"/>
            <a:ext cx="3520440" cy="1874520"/>
          </a:xfrm>
          <a:prstGeom prst="roundRect">
            <a:avLst>
              <a:gd name="adj" fmla="val 3902"/>
            </a:avLst>
          </a:prstGeom>
          <a:solidFill>
            <a:srgbClr val="EEF2FB"/>
          </a:solidFill>
          <a:ln/>
          <a:effectLst>
            <a:outerShdw blurRad="76200" dist="25400" dir="5400000" algn="bl" rotWithShape="0">
              <a:srgbClr val="9AA5B1">
                <a:alpha val="25000"/>
              </a:srgbClr>
            </a:outerShdw>
          </a:effectLst>
        </p:spPr>
      </p:sp>
      <p:sp>
        <p:nvSpPr>
          <p:cNvPr id="30" name="Shape 28"/>
          <p:cNvSpPr/>
          <p:nvPr/>
        </p:nvSpPr>
        <p:spPr>
          <a:xfrm>
            <a:off x="8183880" y="4023360"/>
            <a:ext cx="502920" cy="502920"/>
          </a:xfrm>
          <a:prstGeom prst="ellipse">
            <a:avLst/>
          </a:prstGeom>
          <a:solidFill>
            <a:srgbClr val="1E2761"/>
          </a:solidFill>
          <a:ln/>
        </p:spPr>
      </p:sp>
      <p:sp>
        <p:nvSpPr>
          <p:cNvPr id="31" name="Text 29"/>
          <p:cNvSpPr/>
          <p:nvPr/>
        </p:nvSpPr>
        <p:spPr>
          <a:xfrm>
            <a:off x="8183880" y="40233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CSV</a:t>
            </a:r>
            <a:endParaRPr lang="en-US" sz="1300" dirty="0"/>
          </a:p>
        </p:txBody>
      </p:sp>
      <p:sp>
        <p:nvSpPr>
          <p:cNvPr id="32" name="Text 30"/>
          <p:cNvSpPr/>
          <p:nvPr/>
        </p:nvSpPr>
        <p:spPr>
          <a:xfrm>
            <a:off x="8183880" y="4663440"/>
            <a:ext cx="310896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Dataset</a:t>
            </a:r>
            <a:endParaRPr lang="en-US" sz="1400" dirty="0"/>
          </a:p>
        </p:txBody>
      </p:sp>
      <p:sp>
        <p:nvSpPr>
          <p:cNvPr id="33" name="Text 31"/>
          <p:cNvSpPr/>
          <p:nvPr/>
        </p:nvSpPr>
        <p:spPr>
          <a:xfrm>
            <a:off x="8183880" y="4983480"/>
            <a:ext cx="3108960" cy="59436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Company tone/template source for RAG</a:t>
            </a:r>
            <a:endParaRPr lang="en-US" sz="1050" dirty="0"/>
          </a:p>
        </p:txBody>
      </p: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DATA MODEL</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Database Schema (Supabase / Postgres)</a:t>
            </a:r>
            <a:endParaRPr lang="en-US" sz="3200" dirty="0"/>
          </a:p>
        </p:txBody>
      </p:sp>
      <p:sp>
        <p:nvSpPr>
          <p:cNvPr id="4" name="Shape 2"/>
          <p:cNvSpPr/>
          <p:nvPr/>
        </p:nvSpPr>
        <p:spPr>
          <a:xfrm>
            <a:off x="548640" y="1691640"/>
            <a:ext cx="3383280" cy="2743200"/>
          </a:xfrm>
          <a:prstGeom prst="roundRect">
            <a:avLst>
              <a:gd name="adj" fmla="val 2667"/>
            </a:avLst>
          </a:prstGeom>
          <a:solidFill>
            <a:srgbClr val="EEF2FB"/>
          </a:solidFill>
          <a:ln/>
          <a:effectLst>
            <a:outerShdw blurRad="76200" dist="25400" dir="5400000" algn="bl" rotWithShape="0">
              <a:srgbClr val="9AA5B1">
                <a:alpha val="25000"/>
              </a:srgbClr>
            </a:outerShdw>
          </a:effectLst>
        </p:spPr>
      </p:sp>
      <p:sp>
        <p:nvSpPr>
          <p:cNvPr id="5" name="Text 3"/>
          <p:cNvSpPr/>
          <p:nvPr/>
        </p:nvSpPr>
        <p:spPr>
          <a:xfrm>
            <a:off x="777240" y="1828800"/>
            <a:ext cx="292608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profiles</a:t>
            </a:r>
            <a:endParaRPr lang="en-US" sz="1500" dirty="0"/>
          </a:p>
        </p:txBody>
      </p:sp>
      <p:sp>
        <p:nvSpPr>
          <p:cNvPr id="6" name="Text 4"/>
          <p:cNvSpPr/>
          <p:nvPr/>
        </p:nvSpPr>
        <p:spPr>
          <a:xfrm>
            <a:off x="777240" y="2194560"/>
            <a:ext cx="2926080" cy="2103120"/>
          </a:xfrm>
          <a:prstGeom prst="rect">
            <a:avLst/>
          </a:prstGeom>
          <a:noFill/>
          <a:ln/>
        </p:spPr>
        <p:txBody>
          <a:bodyPr wrap="square" lIns="0" tIns="0" rIns="0" bIns="0" rtlCol="0" anchor="t"/>
          <a:lstStyle/>
          <a:p>
            <a:pPr marL="0" indent="0">
              <a:buNone/>
            </a:pPr>
            <a:r>
              <a:rPr lang="en-US" sz="1100" dirty="0">
                <a:solidFill>
                  <a:srgbClr val="1F2937"/>
                </a:solidFill>
                <a:latin typeface="Courier New" pitchFamily="34" charset="0"/>
                <a:ea typeface="Courier New" pitchFamily="34" charset="-122"/>
                <a:cs typeface="Courier New" pitchFamily="34" charset="-120"/>
              </a:rPr>
              <a:t>id (uuid, PK → auth.users)</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email</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username</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is_admin (bool)</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is_approved (bool)</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created_at</a:t>
            </a:r>
            <a:endParaRPr lang="en-US" sz="1100" dirty="0"/>
          </a:p>
        </p:txBody>
      </p:sp>
      <p:sp>
        <p:nvSpPr>
          <p:cNvPr id="7" name="Shape 5"/>
          <p:cNvSpPr/>
          <p:nvPr/>
        </p:nvSpPr>
        <p:spPr>
          <a:xfrm>
            <a:off x="4343400" y="1691640"/>
            <a:ext cx="3566160" cy="2743200"/>
          </a:xfrm>
          <a:prstGeom prst="roundRect">
            <a:avLst>
              <a:gd name="adj" fmla="val 2667"/>
            </a:avLst>
          </a:prstGeom>
          <a:solidFill>
            <a:srgbClr val="EEF2FB"/>
          </a:solidFill>
          <a:ln/>
          <a:effectLst>
            <a:outerShdw blurRad="76200" dist="25400" dir="5400000" algn="bl" rotWithShape="0">
              <a:srgbClr val="9AA5B1">
                <a:alpha val="25000"/>
              </a:srgbClr>
            </a:outerShdw>
          </a:effectLst>
        </p:spPr>
      </p:sp>
      <p:sp>
        <p:nvSpPr>
          <p:cNvPr id="8" name="Text 6"/>
          <p:cNvSpPr/>
          <p:nvPr/>
        </p:nvSpPr>
        <p:spPr>
          <a:xfrm>
            <a:off x="4572000" y="1828800"/>
            <a:ext cx="31089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prompt_logs</a:t>
            </a:r>
            <a:endParaRPr lang="en-US" sz="1500" dirty="0"/>
          </a:p>
        </p:txBody>
      </p:sp>
      <p:sp>
        <p:nvSpPr>
          <p:cNvPr id="9" name="Text 7"/>
          <p:cNvSpPr/>
          <p:nvPr/>
        </p:nvSpPr>
        <p:spPr>
          <a:xfrm>
            <a:off x="4572000" y="2194560"/>
            <a:ext cx="3200400" cy="2103120"/>
          </a:xfrm>
          <a:prstGeom prst="rect">
            <a:avLst/>
          </a:prstGeom>
          <a:noFill/>
          <a:ln/>
        </p:spPr>
        <p:txBody>
          <a:bodyPr wrap="square" lIns="0" tIns="0" rIns="0" bIns="0" rtlCol="0" anchor="t"/>
          <a:lstStyle/>
          <a:p>
            <a:pPr marL="0" indent="0">
              <a:buNone/>
            </a:pPr>
            <a:r>
              <a:rPr lang="en-US" sz="1050" dirty="0">
                <a:solidFill>
                  <a:srgbClr val="1F2937"/>
                </a:solidFill>
                <a:latin typeface="Courier New" pitchFamily="34" charset="0"/>
                <a:ea typeface="Courier New" pitchFamily="34" charset="-122"/>
                <a:cs typeface="Courier New" pitchFamily="34" charset="-120"/>
              </a:rPr>
              <a:t>id (uuid, PK)</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user_id (→ profiles.id)</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username</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input_prompt</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output_email</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matched_scenario</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out_of_context (bool)</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created_at</a:t>
            </a:r>
            <a:endParaRPr lang="en-US" sz="1050" dirty="0"/>
          </a:p>
        </p:txBody>
      </p:sp>
      <p:sp>
        <p:nvSpPr>
          <p:cNvPr id="10" name="Shape 8"/>
          <p:cNvSpPr/>
          <p:nvPr/>
        </p:nvSpPr>
        <p:spPr>
          <a:xfrm>
            <a:off x="8275320" y="1691640"/>
            <a:ext cx="3383280" cy="2743200"/>
          </a:xfrm>
          <a:prstGeom prst="roundRect">
            <a:avLst>
              <a:gd name="adj" fmla="val 2667"/>
            </a:avLst>
          </a:prstGeom>
          <a:solidFill>
            <a:srgbClr val="EEF2FB"/>
          </a:solidFill>
          <a:ln/>
          <a:effectLst>
            <a:outerShdw blurRad="76200" dist="25400" dir="5400000" algn="bl" rotWithShape="0">
              <a:srgbClr val="9AA5B1">
                <a:alpha val="25000"/>
              </a:srgbClr>
            </a:outerShdw>
          </a:effectLst>
        </p:spPr>
      </p:sp>
      <p:sp>
        <p:nvSpPr>
          <p:cNvPr id="11" name="Text 9"/>
          <p:cNvSpPr/>
          <p:nvPr/>
        </p:nvSpPr>
        <p:spPr>
          <a:xfrm>
            <a:off x="8503920" y="1828800"/>
            <a:ext cx="292608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email_templates</a:t>
            </a:r>
            <a:endParaRPr lang="en-US" sz="1500" dirty="0"/>
          </a:p>
        </p:txBody>
      </p:sp>
      <p:sp>
        <p:nvSpPr>
          <p:cNvPr id="12" name="Text 10"/>
          <p:cNvSpPr/>
          <p:nvPr/>
        </p:nvSpPr>
        <p:spPr>
          <a:xfrm>
            <a:off x="8503920" y="2194560"/>
            <a:ext cx="3108960" cy="2103120"/>
          </a:xfrm>
          <a:prstGeom prst="rect">
            <a:avLst/>
          </a:prstGeom>
          <a:noFill/>
          <a:ln/>
        </p:spPr>
        <p:txBody>
          <a:bodyPr wrap="square" lIns="0" tIns="0" rIns="0" bIns="0" rtlCol="0" anchor="t"/>
          <a:lstStyle/>
          <a:p>
            <a:pPr marL="0" indent="0">
              <a:buNone/>
            </a:pPr>
            <a:r>
              <a:rPr lang="en-US" sz="1050" dirty="0">
                <a:solidFill>
                  <a:srgbClr val="1F2937"/>
                </a:solidFill>
                <a:latin typeface="Courier New" pitchFamily="34" charset="0"/>
                <a:ea typeface="Courier New" pitchFamily="34" charset="-122"/>
                <a:cs typeface="Courier New" pitchFamily="34" charset="-120"/>
              </a:rPr>
              <a:t>id (uuid, PK)</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scenario</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client_type</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tone</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context</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sample_email</a:t>
            </a:r>
            <a:endParaRPr lang="en-US" sz="1050" dirty="0"/>
          </a:p>
          <a:p>
            <a:pPr marL="0" indent="0">
              <a:buNone/>
            </a:pPr>
            <a:r>
              <a:rPr lang="en-US" sz="1050" dirty="0">
                <a:solidFill>
                  <a:srgbClr val="1F2937"/>
                </a:solidFill>
                <a:latin typeface="Courier New" pitchFamily="34" charset="0"/>
                <a:ea typeface="Courier New" pitchFamily="34" charset="-122"/>
                <a:cs typeface="Courier New" pitchFamily="34" charset="-120"/>
              </a:rPr>
              <a:t>embedding (vector 768)</a:t>
            </a:r>
            <a:endParaRPr lang="en-US" sz="1050" dirty="0"/>
          </a:p>
        </p:txBody>
      </p:sp>
      <p:sp>
        <p:nvSpPr>
          <p:cNvPr id="13" name="Shape 11"/>
          <p:cNvSpPr/>
          <p:nvPr/>
        </p:nvSpPr>
        <p:spPr>
          <a:xfrm>
            <a:off x="3931920" y="2286000"/>
            <a:ext cx="411480" cy="0"/>
          </a:xfrm>
          <a:prstGeom prst="line">
            <a:avLst/>
          </a:prstGeom>
          <a:noFill/>
          <a:ln w="25400">
            <a:solidFill>
              <a:srgbClr val="3A468C"/>
            </a:solidFill>
            <a:prstDash val="solid"/>
            <a:tailEnd type="triangle"/>
          </a:ln>
        </p:spPr>
      </p:sp>
      <p:sp>
        <p:nvSpPr>
          <p:cNvPr id="14" name="Text 12"/>
          <p:cNvSpPr/>
          <p:nvPr/>
        </p:nvSpPr>
        <p:spPr>
          <a:xfrm>
            <a:off x="3794760" y="2331720"/>
            <a:ext cx="822960"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1 : many</a:t>
            </a:r>
            <a:endParaRPr lang="en-US" sz="900" dirty="0"/>
          </a:p>
        </p:txBody>
      </p:sp>
      <p:sp>
        <p:nvSpPr>
          <p:cNvPr id="15" name="Text 13"/>
          <p:cNvSpPr/>
          <p:nvPr/>
        </p:nvSpPr>
        <p:spPr>
          <a:xfrm>
            <a:off x="548640" y="4663440"/>
            <a:ext cx="1106424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email_templates is used only by the RAG retrieval function — it has no foreign key relation to users.</a:t>
            </a:r>
            <a:endParaRPr lang="en-US" sz="1100" dirty="0"/>
          </a:p>
        </p:txBody>
      </p:sp>
      <p:sp>
        <p:nvSpPr>
          <p:cNvPr id="16" name="Shape 14"/>
          <p:cNvSpPr/>
          <p:nvPr/>
        </p:nvSpPr>
        <p:spPr>
          <a:xfrm>
            <a:off x="548640" y="5212080"/>
            <a:ext cx="11109960" cy="960120"/>
          </a:xfrm>
          <a:prstGeom prst="roundRect">
            <a:avLst>
              <a:gd name="adj" fmla="val 7619"/>
            </a:avLst>
          </a:prstGeom>
          <a:solidFill>
            <a:srgbClr val="1E2761"/>
          </a:solidFill>
          <a:ln/>
          <a:effectLst>
            <a:outerShdw blurRad="76200" dist="25400" dir="5400000" algn="bl" rotWithShape="0">
              <a:srgbClr val="9AA5B1">
                <a:alpha val="25000"/>
              </a:srgbClr>
            </a:outerShdw>
          </a:effectLst>
        </p:spPr>
      </p:sp>
      <p:sp>
        <p:nvSpPr>
          <p:cNvPr id="17" name="Text 15"/>
          <p:cNvSpPr/>
          <p:nvPr/>
        </p:nvSpPr>
        <p:spPr>
          <a:xfrm>
            <a:off x="822960" y="5349240"/>
            <a:ext cx="10515600" cy="6858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Security: Row Level Security (RLS) is enabled on every table. Users can only read their own profile; only rows where is_admin() is true can read or update other users' data or view prompt_logs.</a:t>
            </a:r>
            <a:endParaRPr lang="en-US" sz="1200" dirty="0"/>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THE CORE MECHANISM</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RAG Pipeline: Indexing + Retrieval</a:t>
            </a:r>
            <a:endParaRPr lang="en-US" sz="3200" dirty="0"/>
          </a:p>
        </p:txBody>
      </p:sp>
      <p:sp>
        <p:nvSpPr>
          <p:cNvPr id="4" name="Text 2"/>
          <p:cNvSpPr/>
          <p:nvPr/>
        </p:nvSpPr>
        <p:spPr>
          <a:xfrm>
            <a:off x="548640" y="1554480"/>
            <a:ext cx="10058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PHASE 1 — INDEXING (run once, or whenever the dataset is updated)</a:t>
            </a:r>
            <a:endParaRPr lang="en-US" sz="1200" dirty="0"/>
          </a:p>
        </p:txBody>
      </p:sp>
      <p:sp>
        <p:nvSpPr>
          <p:cNvPr id="5" name="Shape 3"/>
          <p:cNvSpPr/>
          <p:nvPr/>
        </p:nvSpPr>
        <p:spPr>
          <a:xfrm>
            <a:off x="548640" y="1920240"/>
            <a:ext cx="3520440" cy="1417320"/>
          </a:xfrm>
          <a:prstGeom prst="roundRect">
            <a:avLst>
              <a:gd name="adj" fmla="val 5161"/>
            </a:avLst>
          </a:prstGeom>
          <a:solidFill>
            <a:srgbClr val="EEF2FB"/>
          </a:solidFill>
          <a:ln/>
          <a:effectLst>
            <a:outerShdw blurRad="76200" dist="25400" dir="5400000" algn="bl" rotWithShape="0">
              <a:srgbClr val="9AA5B1">
                <a:alpha val="25000"/>
              </a:srgbClr>
            </a:outerShdw>
          </a:effectLst>
        </p:spPr>
      </p:sp>
      <p:sp>
        <p:nvSpPr>
          <p:cNvPr id="6" name="Shape 4"/>
          <p:cNvSpPr/>
          <p:nvPr/>
        </p:nvSpPr>
        <p:spPr>
          <a:xfrm>
            <a:off x="685800" y="2057400"/>
            <a:ext cx="365760" cy="365760"/>
          </a:xfrm>
          <a:prstGeom prst="ellipse">
            <a:avLst/>
          </a:prstGeom>
          <a:solidFill>
            <a:srgbClr val="1E2761"/>
          </a:solidFill>
          <a:ln/>
        </p:spPr>
      </p:sp>
      <p:sp>
        <p:nvSpPr>
          <p:cNvPr id="7" name="Text 5"/>
          <p:cNvSpPr/>
          <p:nvPr/>
        </p:nvSpPr>
        <p:spPr>
          <a:xfrm>
            <a:off x="685800" y="20574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85800" y="2514600"/>
            <a:ext cx="32461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CSV Dataset</a:t>
            </a:r>
            <a:endParaRPr lang="en-US" sz="1300" dirty="0"/>
          </a:p>
        </p:txBody>
      </p:sp>
      <p:sp>
        <p:nvSpPr>
          <p:cNvPr id="9" name="Text 7"/>
          <p:cNvSpPr/>
          <p:nvPr/>
        </p:nvSpPr>
        <p:spPr>
          <a:xfrm>
            <a:off x="685800" y="2560320"/>
            <a:ext cx="3246120" cy="685800"/>
          </a:xfrm>
          <a:prstGeom prst="rect">
            <a:avLst/>
          </a:prstGeom>
          <a:noFill/>
          <a:ln/>
        </p:spPr>
        <p:txBody>
          <a:bodyPr wrap="square" lIns="0" tIns="0" rIns="0" bIns="0" rtlCol="0" anchor="t"/>
          <a:lstStyle/>
          <a:p>
            <a:pPr marL="0" indent="0">
              <a:buNone/>
            </a:pPr>
            <a:endParaRPr lang="en-US" sz="1050" dirty="0" smtClean="0">
              <a:solidFill>
                <a:srgbClr val="6B7280"/>
              </a:solidFill>
              <a:latin typeface="Calibri" pitchFamily="34" charset="0"/>
              <a:ea typeface="Calibri" pitchFamily="34" charset="-122"/>
              <a:cs typeface="Calibri" pitchFamily="34" charset="-120"/>
            </a:endParaRPr>
          </a:p>
          <a:p>
            <a:pPr marL="0" indent="0">
              <a:buNone/>
            </a:pPr>
            <a:r>
              <a:rPr lang="en-US" sz="1050" dirty="0" smtClean="0">
                <a:solidFill>
                  <a:srgbClr val="6B7280"/>
                </a:solidFill>
                <a:latin typeface="Calibri" pitchFamily="34" charset="0"/>
                <a:ea typeface="Calibri" pitchFamily="34" charset="-122"/>
                <a:cs typeface="Calibri" pitchFamily="34" charset="-120"/>
              </a:rPr>
              <a:t>30 </a:t>
            </a:r>
            <a:r>
              <a:rPr lang="en-US" sz="1050" dirty="0">
                <a:solidFill>
                  <a:srgbClr val="6B7280"/>
                </a:solidFill>
                <a:latin typeface="Calibri" pitchFamily="34" charset="0"/>
                <a:ea typeface="Calibri" pitchFamily="34" charset="-122"/>
                <a:cs typeface="Calibri" pitchFamily="34" charset="-120"/>
              </a:rPr>
              <a:t>company scenarios: tone, client type, context, sample email</a:t>
            </a:r>
            <a:endParaRPr lang="en-US" sz="1050" dirty="0"/>
          </a:p>
        </p:txBody>
      </p:sp>
      <p:sp>
        <p:nvSpPr>
          <p:cNvPr id="10" name="Shape 8"/>
          <p:cNvSpPr/>
          <p:nvPr/>
        </p:nvSpPr>
        <p:spPr>
          <a:xfrm>
            <a:off x="4114800" y="2606040"/>
            <a:ext cx="228600" cy="0"/>
          </a:xfrm>
          <a:prstGeom prst="line">
            <a:avLst/>
          </a:prstGeom>
          <a:noFill/>
          <a:ln w="25400">
            <a:solidFill>
              <a:srgbClr val="3A468C"/>
            </a:solidFill>
            <a:prstDash val="solid"/>
            <a:tailEnd type="triangle"/>
          </a:ln>
        </p:spPr>
      </p:sp>
      <p:sp>
        <p:nvSpPr>
          <p:cNvPr id="11" name="Shape 9"/>
          <p:cNvSpPr/>
          <p:nvPr/>
        </p:nvSpPr>
        <p:spPr>
          <a:xfrm>
            <a:off x="4251960" y="1920240"/>
            <a:ext cx="3520440" cy="1417320"/>
          </a:xfrm>
          <a:prstGeom prst="roundRect">
            <a:avLst>
              <a:gd name="adj" fmla="val 5161"/>
            </a:avLst>
          </a:prstGeom>
          <a:solidFill>
            <a:srgbClr val="EEF2FB"/>
          </a:solidFill>
          <a:ln/>
          <a:effectLst>
            <a:outerShdw blurRad="76200" dist="25400" dir="5400000" algn="bl" rotWithShape="0">
              <a:srgbClr val="9AA5B1">
                <a:alpha val="25000"/>
              </a:srgbClr>
            </a:outerShdw>
          </a:effectLst>
        </p:spPr>
      </p:sp>
      <p:sp>
        <p:nvSpPr>
          <p:cNvPr id="12" name="Shape 10"/>
          <p:cNvSpPr/>
          <p:nvPr/>
        </p:nvSpPr>
        <p:spPr>
          <a:xfrm>
            <a:off x="4389120" y="2057400"/>
            <a:ext cx="365760" cy="365760"/>
          </a:xfrm>
          <a:prstGeom prst="ellipse">
            <a:avLst/>
          </a:prstGeom>
          <a:solidFill>
            <a:srgbClr val="1E2761"/>
          </a:solidFill>
          <a:ln/>
        </p:spPr>
      </p:sp>
      <p:sp>
        <p:nvSpPr>
          <p:cNvPr id="13" name="Text 11"/>
          <p:cNvSpPr/>
          <p:nvPr/>
        </p:nvSpPr>
        <p:spPr>
          <a:xfrm>
            <a:off x="4389120" y="20574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389120" y="2514600"/>
            <a:ext cx="32461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Gemini Embedding</a:t>
            </a:r>
            <a:endParaRPr lang="en-US" sz="1300" dirty="0"/>
          </a:p>
        </p:txBody>
      </p:sp>
      <p:sp>
        <p:nvSpPr>
          <p:cNvPr id="15" name="Text 13"/>
          <p:cNvSpPr/>
          <p:nvPr/>
        </p:nvSpPr>
        <p:spPr>
          <a:xfrm>
            <a:off x="4389120" y="2560320"/>
            <a:ext cx="3246120" cy="685800"/>
          </a:xfrm>
          <a:prstGeom prst="rect">
            <a:avLst/>
          </a:prstGeom>
          <a:noFill/>
          <a:ln/>
        </p:spPr>
        <p:txBody>
          <a:bodyPr wrap="square" lIns="0" tIns="0" rIns="0" bIns="0" rtlCol="0" anchor="t"/>
          <a:lstStyle/>
          <a:p>
            <a:pPr marL="0" indent="0">
              <a:buNone/>
            </a:pPr>
            <a:endParaRPr lang="en-US" sz="1050" dirty="0" smtClean="0">
              <a:solidFill>
                <a:srgbClr val="6B7280"/>
              </a:solidFill>
              <a:latin typeface="Calibri" pitchFamily="34" charset="0"/>
              <a:ea typeface="Calibri" pitchFamily="34" charset="-122"/>
              <a:cs typeface="Calibri" pitchFamily="34" charset="-120"/>
            </a:endParaRPr>
          </a:p>
          <a:p>
            <a:pPr marL="0" indent="0">
              <a:buNone/>
            </a:pPr>
            <a:r>
              <a:rPr lang="en-US" sz="1050" dirty="0" smtClean="0">
                <a:solidFill>
                  <a:srgbClr val="6B7280"/>
                </a:solidFill>
                <a:latin typeface="Calibri" pitchFamily="34" charset="0"/>
                <a:ea typeface="Calibri" pitchFamily="34" charset="-122"/>
                <a:cs typeface="Calibri" pitchFamily="34" charset="-120"/>
              </a:rPr>
              <a:t>Each </a:t>
            </a:r>
            <a:r>
              <a:rPr lang="en-US" sz="1050" dirty="0">
                <a:solidFill>
                  <a:srgbClr val="6B7280"/>
                </a:solidFill>
                <a:latin typeface="Calibri" pitchFamily="34" charset="0"/>
                <a:ea typeface="Calibri" pitchFamily="34" charset="-122"/>
                <a:cs typeface="Calibri" pitchFamily="34" charset="-120"/>
              </a:rPr>
              <a:t>row → 768-dim vector (task type: RETRIEVAL_DOCUMENT)</a:t>
            </a:r>
            <a:endParaRPr lang="en-US" sz="1050" dirty="0"/>
          </a:p>
        </p:txBody>
      </p:sp>
      <p:sp>
        <p:nvSpPr>
          <p:cNvPr id="16" name="Shape 14"/>
          <p:cNvSpPr/>
          <p:nvPr/>
        </p:nvSpPr>
        <p:spPr>
          <a:xfrm>
            <a:off x="7818120" y="2606040"/>
            <a:ext cx="228600" cy="0"/>
          </a:xfrm>
          <a:prstGeom prst="line">
            <a:avLst/>
          </a:prstGeom>
          <a:noFill/>
          <a:ln w="25400">
            <a:solidFill>
              <a:srgbClr val="3A468C"/>
            </a:solidFill>
            <a:prstDash val="solid"/>
            <a:tailEnd type="triangle"/>
          </a:ln>
        </p:spPr>
      </p:sp>
      <p:sp>
        <p:nvSpPr>
          <p:cNvPr id="17" name="Shape 15"/>
          <p:cNvSpPr/>
          <p:nvPr/>
        </p:nvSpPr>
        <p:spPr>
          <a:xfrm>
            <a:off x="7955280" y="1920240"/>
            <a:ext cx="3520440" cy="1417320"/>
          </a:xfrm>
          <a:prstGeom prst="roundRect">
            <a:avLst>
              <a:gd name="adj" fmla="val 5161"/>
            </a:avLst>
          </a:prstGeom>
          <a:solidFill>
            <a:srgbClr val="EEF2FB"/>
          </a:solidFill>
          <a:ln/>
          <a:effectLst>
            <a:outerShdw blurRad="76200" dist="25400" dir="5400000" algn="bl" rotWithShape="0">
              <a:srgbClr val="9AA5B1">
                <a:alpha val="25000"/>
              </a:srgbClr>
            </a:outerShdw>
          </a:effectLst>
        </p:spPr>
      </p:sp>
      <p:sp>
        <p:nvSpPr>
          <p:cNvPr id="18" name="Shape 16"/>
          <p:cNvSpPr/>
          <p:nvPr/>
        </p:nvSpPr>
        <p:spPr>
          <a:xfrm>
            <a:off x="8092440" y="2057400"/>
            <a:ext cx="365760" cy="365760"/>
          </a:xfrm>
          <a:prstGeom prst="ellipse">
            <a:avLst/>
          </a:prstGeom>
          <a:solidFill>
            <a:srgbClr val="1E2761"/>
          </a:solidFill>
          <a:ln/>
        </p:spPr>
      </p:sp>
      <p:sp>
        <p:nvSpPr>
          <p:cNvPr id="19" name="Text 17"/>
          <p:cNvSpPr/>
          <p:nvPr/>
        </p:nvSpPr>
        <p:spPr>
          <a:xfrm>
            <a:off x="8092440" y="20574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8092440" y="2514600"/>
            <a:ext cx="32461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Stored in pgvector</a:t>
            </a:r>
            <a:endParaRPr lang="en-US" sz="1300" dirty="0"/>
          </a:p>
        </p:txBody>
      </p:sp>
      <p:sp>
        <p:nvSpPr>
          <p:cNvPr id="21" name="Text 19"/>
          <p:cNvSpPr/>
          <p:nvPr/>
        </p:nvSpPr>
        <p:spPr>
          <a:xfrm>
            <a:off x="8092440" y="2560320"/>
            <a:ext cx="3246120" cy="685800"/>
          </a:xfrm>
          <a:prstGeom prst="rect">
            <a:avLst/>
          </a:prstGeom>
          <a:noFill/>
          <a:ln/>
        </p:spPr>
        <p:txBody>
          <a:bodyPr wrap="square" lIns="0" tIns="0" rIns="0" bIns="0" rtlCol="0" anchor="t"/>
          <a:lstStyle/>
          <a:p>
            <a:pPr marL="0" indent="0">
              <a:buNone/>
            </a:pPr>
            <a:r>
              <a:rPr lang="en-US" sz="1050" dirty="0" smtClean="0">
                <a:solidFill>
                  <a:srgbClr val="6B7280"/>
                </a:solidFill>
                <a:latin typeface="Calibri" pitchFamily="34" charset="0"/>
                <a:ea typeface="Calibri" pitchFamily="34" charset="-122"/>
                <a:cs typeface="Calibri" pitchFamily="34" charset="-120"/>
              </a:rPr>
              <a:t>I</a:t>
            </a:r>
          </a:p>
          <a:p>
            <a:pPr marL="0" indent="0">
              <a:buNone/>
            </a:pPr>
            <a:r>
              <a:rPr lang="en-US" sz="1050" dirty="0" smtClean="0">
                <a:solidFill>
                  <a:srgbClr val="6B7280"/>
                </a:solidFill>
                <a:latin typeface="Calibri" pitchFamily="34" charset="0"/>
                <a:ea typeface="Calibri" pitchFamily="34" charset="-122"/>
                <a:cs typeface="Calibri" pitchFamily="34" charset="-120"/>
              </a:rPr>
              <a:t>inserted </a:t>
            </a:r>
            <a:r>
              <a:rPr lang="en-US" sz="1050" dirty="0">
                <a:solidFill>
                  <a:srgbClr val="6B7280"/>
                </a:solidFill>
                <a:latin typeface="Calibri" pitchFamily="34" charset="0"/>
                <a:ea typeface="Calibri" pitchFamily="34" charset="-122"/>
                <a:cs typeface="Calibri" pitchFamily="34" charset="-120"/>
              </a:rPr>
              <a:t>into Supabase email_templates table</a:t>
            </a:r>
            <a:endParaRPr lang="en-US" sz="1050" dirty="0"/>
          </a:p>
        </p:txBody>
      </p:sp>
      <p:sp>
        <p:nvSpPr>
          <p:cNvPr id="22" name="Text 20"/>
          <p:cNvSpPr/>
          <p:nvPr/>
        </p:nvSpPr>
        <p:spPr>
          <a:xfrm>
            <a:off x="548640" y="3657600"/>
            <a:ext cx="10058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PHASE 2 — RUNTIME (every time a user submits a prompt)</a:t>
            </a:r>
            <a:endParaRPr lang="en-US" sz="1200" dirty="0"/>
          </a:p>
        </p:txBody>
      </p:sp>
      <p:sp>
        <p:nvSpPr>
          <p:cNvPr id="23" name="Shape 21"/>
          <p:cNvSpPr/>
          <p:nvPr/>
        </p:nvSpPr>
        <p:spPr>
          <a:xfrm>
            <a:off x="548640" y="4023360"/>
            <a:ext cx="2606040" cy="2286000"/>
          </a:xfrm>
          <a:prstGeom prst="roundRect">
            <a:avLst>
              <a:gd name="adj" fmla="val 3200"/>
            </a:avLst>
          </a:prstGeom>
          <a:solidFill>
            <a:srgbClr val="EEF2FB"/>
          </a:solidFill>
          <a:ln/>
          <a:effectLst>
            <a:outerShdw blurRad="76200" dist="25400" dir="5400000" algn="bl" rotWithShape="0">
              <a:srgbClr val="9AA5B1">
                <a:alpha val="25000"/>
              </a:srgbClr>
            </a:outerShdw>
          </a:effectLst>
        </p:spPr>
      </p:sp>
      <p:sp>
        <p:nvSpPr>
          <p:cNvPr id="24" name="Shape 22"/>
          <p:cNvSpPr/>
          <p:nvPr/>
        </p:nvSpPr>
        <p:spPr>
          <a:xfrm>
            <a:off x="685800" y="4160520"/>
            <a:ext cx="365760" cy="365760"/>
          </a:xfrm>
          <a:prstGeom prst="ellipse">
            <a:avLst/>
          </a:prstGeom>
          <a:solidFill>
            <a:srgbClr val="3A468C"/>
          </a:solidFill>
          <a:ln/>
        </p:spPr>
      </p:sp>
      <p:sp>
        <p:nvSpPr>
          <p:cNvPr id="25" name="Text 23"/>
          <p:cNvSpPr/>
          <p:nvPr/>
        </p:nvSpPr>
        <p:spPr>
          <a:xfrm>
            <a:off x="685800" y="4160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6" name="Text 24"/>
          <p:cNvSpPr/>
          <p:nvPr/>
        </p:nvSpPr>
        <p:spPr>
          <a:xfrm>
            <a:off x="685800" y="4617720"/>
            <a:ext cx="23317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User Prompt</a:t>
            </a:r>
            <a:endParaRPr lang="en-US" sz="1300" dirty="0"/>
          </a:p>
        </p:txBody>
      </p:sp>
      <p:sp>
        <p:nvSpPr>
          <p:cNvPr id="27" name="Text 25"/>
          <p:cNvSpPr/>
          <p:nvPr/>
        </p:nvSpPr>
        <p:spPr>
          <a:xfrm>
            <a:off x="685800" y="5532120"/>
            <a:ext cx="233172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Junior staff describes the situation in plain language</a:t>
            </a:r>
            <a:endParaRPr lang="en-US" sz="1050" dirty="0"/>
          </a:p>
        </p:txBody>
      </p:sp>
      <p:sp>
        <p:nvSpPr>
          <p:cNvPr id="28" name="Shape 26"/>
          <p:cNvSpPr/>
          <p:nvPr/>
        </p:nvSpPr>
        <p:spPr>
          <a:xfrm>
            <a:off x="3172968" y="5120640"/>
            <a:ext cx="164592" cy="0"/>
          </a:xfrm>
          <a:prstGeom prst="line">
            <a:avLst/>
          </a:prstGeom>
          <a:noFill/>
          <a:ln w="25400">
            <a:solidFill>
              <a:srgbClr val="3A468C"/>
            </a:solidFill>
            <a:prstDash val="solid"/>
            <a:tailEnd type="triangle"/>
          </a:ln>
        </p:spPr>
      </p:sp>
      <p:sp>
        <p:nvSpPr>
          <p:cNvPr id="29" name="Shape 27"/>
          <p:cNvSpPr/>
          <p:nvPr/>
        </p:nvSpPr>
        <p:spPr>
          <a:xfrm>
            <a:off x="3337560" y="4023360"/>
            <a:ext cx="2606040" cy="2286000"/>
          </a:xfrm>
          <a:prstGeom prst="roundRect">
            <a:avLst>
              <a:gd name="adj" fmla="val 3200"/>
            </a:avLst>
          </a:prstGeom>
          <a:solidFill>
            <a:srgbClr val="EEF2FB"/>
          </a:solidFill>
          <a:ln/>
          <a:effectLst>
            <a:outerShdw blurRad="76200" dist="25400" dir="5400000" algn="bl" rotWithShape="0">
              <a:srgbClr val="9AA5B1">
                <a:alpha val="25000"/>
              </a:srgbClr>
            </a:outerShdw>
          </a:effectLst>
        </p:spPr>
      </p:sp>
      <p:sp>
        <p:nvSpPr>
          <p:cNvPr id="30" name="Shape 28"/>
          <p:cNvSpPr/>
          <p:nvPr/>
        </p:nvSpPr>
        <p:spPr>
          <a:xfrm>
            <a:off x="3474720" y="4160520"/>
            <a:ext cx="365760" cy="365760"/>
          </a:xfrm>
          <a:prstGeom prst="ellipse">
            <a:avLst/>
          </a:prstGeom>
          <a:solidFill>
            <a:srgbClr val="3A468C"/>
          </a:solidFill>
          <a:ln/>
        </p:spPr>
      </p:sp>
      <p:sp>
        <p:nvSpPr>
          <p:cNvPr id="31" name="Text 29"/>
          <p:cNvSpPr/>
          <p:nvPr/>
        </p:nvSpPr>
        <p:spPr>
          <a:xfrm>
            <a:off x="3474720" y="4160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2" name="Text 30"/>
          <p:cNvSpPr/>
          <p:nvPr/>
        </p:nvSpPr>
        <p:spPr>
          <a:xfrm>
            <a:off x="3474720" y="4617720"/>
            <a:ext cx="23317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Embed Query</a:t>
            </a:r>
            <a:endParaRPr lang="en-US" sz="1300" dirty="0"/>
          </a:p>
        </p:txBody>
      </p:sp>
      <p:sp>
        <p:nvSpPr>
          <p:cNvPr id="33" name="Text 31"/>
          <p:cNvSpPr/>
          <p:nvPr/>
        </p:nvSpPr>
        <p:spPr>
          <a:xfrm>
            <a:off x="3474720" y="5532120"/>
            <a:ext cx="233172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Gemini embeds the prompt (task type: RETRIEVAL_QUERY)</a:t>
            </a:r>
            <a:endParaRPr lang="en-US" sz="1050" dirty="0"/>
          </a:p>
        </p:txBody>
      </p:sp>
      <p:sp>
        <p:nvSpPr>
          <p:cNvPr id="34" name="Shape 32"/>
          <p:cNvSpPr/>
          <p:nvPr/>
        </p:nvSpPr>
        <p:spPr>
          <a:xfrm>
            <a:off x="5961888" y="5120640"/>
            <a:ext cx="164592" cy="0"/>
          </a:xfrm>
          <a:prstGeom prst="line">
            <a:avLst/>
          </a:prstGeom>
          <a:noFill/>
          <a:ln w="25400">
            <a:solidFill>
              <a:srgbClr val="3A468C"/>
            </a:solidFill>
            <a:prstDash val="solid"/>
            <a:tailEnd type="triangle"/>
          </a:ln>
        </p:spPr>
      </p:sp>
      <p:sp>
        <p:nvSpPr>
          <p:cNvPr id="35" name="Shape 33"/>
          <p:cNvSpPr/>
          <p:nvPr/>
        </p:nvSpPr>
        <p:spPr>
          <a:xfrm>
            <a:off x="6126480" y="4023360"/>
            <a:ext cx="2606040" cy="2286000"/>
          </a:xfrm>
          <a:prstGeom prst="roundRect">
            <a:avLst>
              <a:gd name="adj" fmla="val 3200"/>
            </a:avLst>
          </a:prstGeom>
          <a:solidFill>
            <a:srgbClr val="EEF2FB"/>
          </a:solidFill>
          <a:ln/>
          <a:effectLst>
            <a:outerShdw blurRad="76200" dist="25400" dir="5400000" algn="bl" rotWithShape="0">
              <a:srgbClr val="9AA5B1">
                <a:alpha val="25000"/>
              </a:srgbClr>
            </a:outerShdw>
          </a:effectLst>
        </p:spPr>
      </p:sp>
      <p:sp>
        <p:nvSpPr>
          <p:cNvPr id="36" name="Shape 34"/>
          <p:cNvSpPr/>
          <p:nvPr/>
        </p:nvSpPr>
        <p:spPr>
          <a:xfrm>
            <a:off x="6263640" y="4160520"/>
            <a:ext cx="365760" cy="365760"/>
          </a:xfrm>
          <a:prstGeom prst="ellipse">
            <a:avLst/>
          </a:prstGeom>
          <a:solidFill>
            <a:srgbClr val="3A468C"/>
          </a:solidFill>
          <a:ln/>
        </p:spPr>
      </p:sp>
      <p:sp>
        <p:nvSpPr>
          <p:cNvPr id="37" name="Text 35"/>
          <p:cNvSpPr/>
          <p:nvPr/>
        </p:nvSpPr>
        <p:spPr>
          <a:xfrm>
            <a:off x="6263640" y="4160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8" name="Text 36"/>
          <p:cNvSpPr/>
          <p:nvPr/>
        </p:nvSpPr>
        <p:spPr>
          <a:xfrm>
            <a:off x="6263640" y="4617720"/>
            <a:ext cx="23317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Similarity Search</a:t>
            </a:r>
            <a:endParaRPr lang="en-US" sz="1300" dirty="0"/>
          </a:p>
        </p:txBody>
      </p:sp>
      <p:sp>
        <p:nvSpPr>
          <p:cNvPr id="39" name="Text 37"/>
          <p:cNvSpPr/>
          <p:nvPr/>
        </p:nvSpPr>
        <p:spPr>
          <a:xfrm>
            <a:off x="6263640" y="5532120"/>
            <a:ext cx="233172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Supabase RPC finds top-3 closest scenarios (cosine distance)</a:t>
            </a:r>
            <a:endParaRPr lang="en-US" sz="1050" dirty="0"/>
          </a:p>
        </p:txBody>
      </p:sp>
      <p:sp>
        <p:nvSpPr>
          <p:cNvPr id="40" name="Shape 38"/>
          <p:cNvSpPr/>
          <p:nvPr/>
        </p:nvSpPr>
        <p:spPr>
          <a:xfrm>
            <a:off x="8750808" y="5120640"/>
            <a:ext cx="164592" cy="0"/>
          </a:xfrm>
          <a:prstGeom prst="line">
            <a:avLst/>
          </a:prstGeom>
          <a:noFill/>
          <a:ln w="25400">
            <a:solidFill>
              <a:srgbClr val="3A468C"/>
            </a:solidFill>
            <a:prstDash val="solid"/>
            <a:tailEnd type="triangle"/>
          </a:ln>
        </p:spPr>
      </p:sp>
      <p:sp>
        <p:nvSpPr>
          <p:cNvPr id="41" name="Shape 39"/>
          <p:cNvSpPr/>
          <p:nvPr/>
        </p:nvSpPr>
        <p:spPr>
          <a:xfrm>
            <a:off x="8915400" y="4023360"/>
            <a:ext cx="2606040" cy="2286000"/>
          </a:xfrm>
          <a:prstGeom prst="roundRect">
            <a:avLst>
              <a:gd name="adj" fmla="val 3200"/>
            </a:avLst>
          </a:prstGeom>
          <a:solidFill>
            <a:srgbClr val="EEF2FB"/>
          </a:solidFill>
          <a:ln/>
          <a:effectLst>
            <a:outerShdw blurRad="76200" dist="25400" dir="5400000" algn="bl" rotWithShape="0">
              <a:srgbClr val="9AA5B1">
                <a:alpha val="25000"/>
              </a:srgbClr>
            </a:outerShdw>
          </a:effectLst>
        </p:spPr>
      </p:sp>
      <p:sp>
        <p:nvSpPr>
          <p:cNvPr id="42" name="Shape 40"/>
          <p:cNvSpPr/>
          <p:nvPr/>
        </p:nvSpPr>
        <p:spPr>
          <a:xfrm>
            <a:off x="9052560" y="4160520"/>
            <a:ext cx="365760" cy="365760"/>
          </a:xfrm>
          <a:prstGeom prst="ellipse">
            <a:avLst/>
          </a:prstGeom>
          <a:solidFill>
            <a:srgbClr val="3A468C"/>
          </a:solidFill>
          <a:ln/>
        </p:spPr>
      </p:sp>
      <p:sp>
        <p:nvSpPr>
          <p:cNvPr id="43" name="Text 41"/>
          <p:cNvSpPr/>
          <p:nvPr/>
        </p:nvSpPr>
        <p:spPr>
          <a:xfrm>
            <a:off x="9052560" y="4160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4" name="Text 42"/>
          <p:cNvSpPr/>
          <p:nvPr/>
        </p:nvSpPr>
        <p:spPr>
          <a:xfrm>
            <a:off x="9052560" y="4617720"/>
            <a:ext cx="233172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Inject + Generate</a:t>
            </a:r>
            <a:endParaRPr lang="en-US" sz="1300" dirty="0"/>
          </a:p>
        </p:txBody>
      </p:sp>
      <p:sp>
        <p:nvSpPr>
          <p:cNvPr id="45" name="Text 43"/>
          <p:cNvSpPr/>
          <p:nvPr/>
        </p:nvSpPr>
        <p:spPr>
          <a:xfrm>
            <a:off x="9052560" y="5532120"/>
            <a:ext cx="233172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Matches injected into system prompt → Gemini writes the email</a:t>
            </a:r>
            <a:endParaRPr lang="en-US" sz="1050" dirty="0"/>
          </a:p>
        </p:txBody>
      </p:sp>
      <p:pic>
        <p:nvPicPr>
          <p:cNvPr id="46" name="Picture 4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KEEPING THE TOOL ON-TOPIC</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Two-Layer Guardrail</a:t>
            </a:r>
            <a:endParaRPr lang="en-US" sz="3200" dirty="0"/>
          </a:p>
        </p:txBody>
      </p:sp>
      <p:sp>
        <p:nvSpPr>
          <p:cNvPr id="4" name="Shape 2"/>
          <p:cNvSpPr/>
          <p:nvPr/>
        </p:nvSpPr>
        <p:spPr>
          <a:xfrm>
            <a:off x="548640" y="1691640"/>
            <a:ext cx="5394960" cy="2377440"/>
          </a:xfrm>
          <a:prstGeom prst="roundRect">
            <a:avLst>
              <a:gd name="adj" fmla="val 3077"/>
            </a:avLst>
          </a:prstGeom>
          <a:solidFill>
            <a:srgbClr val="EEF2FB"/>
          </a:solidFill>
          <a:ln/>
          <a:effectLst>
            <a:outerShdw blurRad="76200" dist="25400" dir="5400000" algn="bl" rotWithShape="0">
              <a:srgbClr val="9AA5B1">
                <a:alpha val="25000"/>
              </a:srgbClr>
            </a:outerShdw>
          </a:effectLst>
        </p:spPr>
      </p:sp>
      <p:sp>
        <p:nvSpPr>
          <p:cNvPr id="5" name="Shape 3"/>
          <p:cNvSpPr/>
          <p:nvPr/>
        </p:nvSpPr>
        <p:spPr>
          <a:xfrm>
            <a:off x="822960" y="1920240"/>
            <a:ext cx="457200" cy="457200"/>
          </a:xfrm>
          <a:prstGeom prst="ellipse">
            <a:avLst/>
          </a:prstGeom>
          <a:solidFill>
            <a:srgbClr val="1E2761"/>
          </a:solidFill>
          <a:ln/>
        </p:spPr>
      </p:sp>
      <p:sp>
        <p:nvSpPr>
          <p:cNvPr id="6" name="Text 4"/>
          <p:cNvSpPr/>
          <p:nvPr/>
        </p:nvSpPr>
        <p:spPr>
          <a:xfrm>
            <a:off x="822960" y="1920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63040" y="1965960"/>
            <a:ext cx="429768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Similarity Threshold</a:t>
            </a:r>
            <a:endParaRPr lang="en-US" sz="1600" dirty="0"/>
          </a:p>
        </p:txBody>
      </p:sp>
      <p:sp>
        <p:nvSpPr>
          <p:cNvPr id="8" name="Text 6"/>
          <p:cNvSpPr/>
          <p:nvPr/>
        </p:nvSpPr>
        <p:spPr>
          <a:xfrm>
            <a:off x="822960" y="2514600"/>
            <a:ext cx="4846320" cy="146304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If the best-matching template's similarity score falls below the threshold, the request is rejected immediately — the Gemini generation call never even happens.</a:t>
            </a:r>
            <a:endParaRPr lang="en-US" sz="1200" dirty="0"/>
          </a:p>
        </p:txBody>
      </p:sp>
      <p:sp>
        <p:nvSpPr>
          <p:cNvPr id="9" name="Shape 7"/>
          <p:cNvSpPr/>
          <p:nvPr/>
        </p:nvSpPr>
        <p:spPr>
          <a:xfrm>
            <a:off x="6172200" y="1691640"/>
            <a:ext cx="5394960" cy="2377440"/>
          </a:xfrm>
          <a:prstGeom prst="roundRect">
            <a:avLst>
              <a:gd name="adj" fmla="val 3077"/>
            </a:avLst>
          </a:prstGeom>
          <a:solidFill>
            <a:srgbClr val="EEF2FB"/>
          </a:solidFill>
          <a:ln/>
          <a:effectLst>
            <a:outerShdw blurRad="76200" dist="25400" dir="5400000" algn="bl" rotWithShape="0">
              <a:srgbClr val="9AA5B1">
                <a:alpha val="25000"/>
              </a:srgbClr>
            </a:outerShdw>
          </a:effectLst>
        </p:spPr>
      </p:sp>
      <p:sp>
        <p:nvSpPr>
          <p:cNvPr id="10" name="Shape 8"/>
          <p:cNvSpPr/>
          <p:nvPr/>
        </p:nvSpPr>
        <p:spPr>
          <a:xfrm>
            <a:off x="6446520" y="1920240"/>
            <a:ext cx="457200" cy="457200"/>
          </a:xfrm>
          <a:prstGeom prst="ellipse">
            <a:avLst/>
          </a:prstGeom>
          <a:solidFill>
            <a:srgbClr val="1E2761"/>
          </a:solidFill>
          <a:ln/>
        </p:spPr>
      </p:sp>
      <p:sp>
        <p:nvSpPr>
          <p:cNvPr id="11" name="Text 9"/>
          <p:cNvSpPr/>
          <p:nvPr/>
        </p:nvSpPr>
        <p:spPr>
          <a:xfrm>
            <a:off x="6446520" y="1920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086600" y="1965960"/>
            <a:ext cx="429768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Strict System Prompt</a:t>
            </a:r>
            <a:endParaRPr lang="en-US" sz="1600" dirty="0"/>
          </a:p>
        </p:txBody>
      </p:sp>
      <p:sp>
        <p:nvSpPr>
          <p:cNvPr id="13" name="Text 11"/>
          <p:cNvSpPr/>
          <p:nvPr/>
        </p:nvSpPr>
        <p:spPr>
          <a:xfrm>
            <a:off x="6446520" y="2514600"/>
            <a:ext cx="4846320" cy="146304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Even when retrieval finds a weak match, Gemini itself is instructed: only write client emails, and refuse anything else with one fixed response.</a:t>
            </a:r>
            <a:endParaRPr lang="en-US" sz="1200" dirty="0"/>
          </a:p>
        </p:txBody>
      </p:sp>
      <p:sp>
        <p:nvSpPr>
          <p:cNvPr id="14" name="Shape 12"/>
          <p:cNvSpPr/>
          <p:nvPr/>
        </p:nvSpPr>
        <p:spPr>
          <a:xfrm>
            <a:off x="548640" y="4343400"/>
            <a:ext cx="11109960" cy="1828800"/>
          </a:xfrm>
          <a:prstGeom prst="roundRect">
            <a:avLst>
              <a:gd name="adj" fmla="val 4000"/>
            </a:avLst>
          </a:prstGeom>
          <a:solidFill>
            <a:srgbClr val="1E2761"/>
          </a:solidFill>
          <a:ln/>
          <a:effectLst>
            <a:outerShdw blurRad="76200" dist="25400" dir="5400000" algn="bl" rotWithShape="0">
              <a:srgbClr val="9AA5B1">
                <a:alpha val="25000"/>
              </a:srgbClr>
            </a:outerShdw>
          </a:effectLst>
        </p:spPr>
      </p:sp>
      <p:sp>
        <p:nvSpPr>
          <p:cNvPr id="15" name="Text 13"/>
          <p:cNvSpPr/>
          <p:nvPr/>
        </p:nvSpPr>
        <p:spPr>
          <a:xfrm>
            <a:off x="822960" y="4526280"/>
            <a:ext cx="45720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Example — out-of-context prompt</a:t>
            </a:r>
            <a:endParaRPr lang="en-US" sz="1200" dirty="0"/>
          </a:p>
        </p:txBody>
      </p:sp>
      <p:sp>
        <p:nvSpPr>
          <p:cNvPr id="16" name="Text 14"/>
          <p:cNvSpPr/>
          <p:nvPr/>
        </p:nvSpPr>
        <p:spPr>
          <a:xfrm>
            <a:off x="822960" y="4892040"/>
            <a:ext cx="4572000" cy="4572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"Write me a poem about the moon"</a:t>
            </a:r>
            <a:endParaRPr lang="en-US" sz="1300" dirty="0"/>
          </a:p>
        </p:txBody>
      </p:sp>
      <p:sp>
        <p:nvSpPr>
          <p:cNvPr id="17" name="Shape 15"/>
          <p:cNvSpPr/>
          <p:nvPr/>
        </p:nvSpPr>
        <p:spPr>
          <a:xfrm>
            <a:off x="5577840" y="5074920"/>
            <a:ext cx="457200" cy="0"/>
          </a:xfrm>
          <a:prstGeom prst="line">
            <a:avLst/>
          </a:prstGeom>
          <a:noFill/>
          <a:ln w="25400">
            <a:solidFill>
              <a:srgbClr val="3A468C"/>
            </a:solidFill>
            <a:prstDash val="solid"/>
            <a:tailEnd type="triangle"/>
          </a:ln>
        </p:spPr>
      </p:sp>
      <p:sp>
        <p:nvSpPr>
          <p:cNvPr id="18" name="Text 16"/>
          <p:cNvSpPr/>
          <p:nvPr/>
        </p:nvSpPr>
        <p:spPr>
          <a:xfrm>
            <a:off x="6263640" y="4526280"/>
            <a:ext cx="50292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Fixed refusal response</a:t>
            </a:r>
            <a:endParaRPr lang="en-US" sz="1200" dirty="0"/>
          </a:p>
        </p:txBody>
      </p:sp>
      <p:sp>
        <p:nvSpPr>
          <p:cNvPr id="19" name="Text 17"/>
          <p:cNvSpPr/>
          <p:nvPr/>
        </p:nvSpPr>
        <p:spPr>
          <a:xfrm>
            <a:off x="6263640" y="4892040"/>
            <a:ext cx="5120640" cy="1188720"/>
          </a:xfrm>
          <a:prstGeom prst="rect">
            <a:avLst/>
          </a:prstGeom>
          <a:noFill/>
          <a:ln/>
        </p:spPr>
        <p:txBody>
          <a:bodyPr wrap="square" lIns="0" tIns="0" rIns="0" bIns="0" rtlCol="0" anchor="t"/>
          <a:lstStyle/>
          <a:p>
            <a:r>
              <a:rPr lang="en-US" sz="1200" i="1" dirty="0" smtClean="0">
                <a:solidFill>
                  <a:srgbClr val="FFFFFF"/>
                </a:solidFill>
                <a:latin typeface="Calibri" pitchFamily="34" charset="0"/>
                <a:ea typeface="Calibri" pitchFamily="34" charset="-122"/>
                <a:cs typeface="Calibri" pitchFamily="34" charset="-120"/>
              </a:rPr>
              <a:t>"</a:t>
            </a:r>
            <a:r>
              <a:rPr lang="en-US" dirty="0"/>
              <a:t> </a:t>
            </a:r>
            <a:r>
              <a:rPr lang="en-US" sz="1200" i="1" dirty="0">
                <a:solidFill>
                  <a:srgbClr val="FFFFFF"/>
                </a:solidFill>
                <a:latin typeface="Calibri" pitchFamily="34" charset="0"/>
                <a:ea typeface="Calibri" pitchFamily="34" charset="-122"/>
                <a:cs typeface="Calibri" pitchFamily="34" charset="-120"/>
              </a:rPr>
              <a:t>I’m sorry, but this request is outside my scope. </a:t>
            </a:r>
            <a:r>
              <a:rPr lang="en-US" sz="1200" i="1" dirty="0">
                <a:solidFill>
                  <a:srgbClr val="FFFFFF"/>
                </a:solidFill>
                <a:latin typeface="Calibri" pitchFamily="34" charset="0"/>
                <a:ea typeface="Calibri" pitchFamily="34" charset="-122"/>
                <a:cs typeface="Calibri" pitchFamily="34" charset="-120"/>
              </a:rPr>
              <a:t>I can only help with drafting professional client </a:t>
            </a:r>
            <a:r>
              <a:rPr lang="en-US" sz="1200" i="1" dirty="0" smtClean="0">
                <a:solidFill>
                  <a:srgbClr val="FFFFFF"/>
                </a:solidFill>
                <a:latin typeface="Calibri" pitchFamily="34" charset="0"/>
                <a:ea typeface="Calibri" pitchFamily="34" charset="-122"/>
                <a:cs typeface="Calibri" pitchFamily="34" charset="-120"/>
              </a:rPr>
              <a:t>emails</a:t>
            </a:r>
            <a:r>
              <a:rPr lang="en-US" sz="1200" i="1" dirty="0" smtClean="0">
                <a:solidFill>
                  <a:srgbClr val="FFFFFF"/>
                </a:solidFill>
                <a:latin typeface="Calibri" pitchFamily="34" charset="0"/>
                <a:ea typeface="Calibri" pitchFamily="34" charset="-122"/>
                <a:cs typeface="Calibri" pitchFamily="34" charset="-120"/>
              </a:rPr>
              <a:t>."</a:t>
            </a:r>
            <a:endParaRPr lang="en-US" sz="120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WHO GETS IN, AND HOW</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Authentication &amp; Approval Workflow</a:t>
            </a:r>
            <a:endParaRPr lang="en-US" sz="3200" dirty="0"/>
          </a:p>
        </p:txBody>
      </p:sp>
      <p:sp>
        <p:nvSpPr>
          <p:cNvPr id="4" name="Shape 2"/>
          <p:cNvSpPr/>
          <p:nvPr/>
        </p:nvSpPr>
        <p:spPr>
          <a:xfrm>
            <a:off x="502920" y="2011680"/>
            <a:ext cx="2084832" cy="2103120"/>
          </a:xfrm>
          <a:prstGeom prst="roundRect">
            <a:avLst>
              <a:gd name="adj" fmla="val 3509"/>
            </a:avLst>
          </a:prstGeom>
          <a:solidFill>
            <a:srgbClr val="EEF2FB"/>
          </a:solidFill>
          <a:ln/>
          <a:effectLst>
            <a:outerShdw blurRad="76200" dist="25400" dir="5400000" algn="bl" rotWithShape="0">
              <a:srgbClr val="9AA5B1">
                <a:alpha val="25000"/>
              </a:srgbClr>
            </a:outerShdw>
          </a:effectLst>
        </p:spPr>
      </p:sp>
      <p:sp>
        <p:nvSpPr>
          <p:cNvPr id="5" name="Shape 3"/>
          <p:cNvSpPr/>
          <p:nvPr/>
        </p:nvSpPr>
        <p:spPr>
          <a:xfrm>
            <a:off x="640080" y="2148840"/>
            <a:ext cx="365760" cy="365760"/>
          </a:xfrm>
          <a:prstGeom prst="ellipse">
            <a:avLst/>
          </a:prstGeom>
          <a:solidFill>
            <a:srgbClr val="1E2761"/>
          </a:solidFill>
          <a:ln/>
        </p:spPr>
      </p:sp>
      <p:sp>
        <p:nvSpPr>
          <p:cNvPr id="6" name="Text 4"/>
          <p:cNvSpPr/>
          <p:nvPr/>
        </p:nvSpPr>
        <p:spPr>
          <a:xfrm>
            <a:off x="640080" y="21488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640080" y="2606040"/>
            <a:ext cx="1810512"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Sign Up</a:t>
            </a:r>
            <a:endParaRPr lang="en-US" sz="1300" dirty="0"/>
          </a:p>
        </p:txBody>
      </p:sp>
      <p:sp>
        <p:nvSpPr>
          <p:cNvPr id="8" name="Text 6"/>
          <p:cNvSpPr/>
          <p:nvPr/>
        </p:nvSpPr>
        <p:spPr>
          <a:xfrm>
            <a:off x="640080" y="3337560"/>
            <a:ext cx="1810512"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Name, work email, password</a:t>
            </a:r>
            <a:endParaRPr lang="en-US" sz="1050" dirty="0"/>
          </a:p>
        </p:txBody>
      </p:sp>
      <p:sp>
        <p:nvSpPr>
          <p:cNvPr id="9" name="Shape 7"/>
          <p:cNvSpPr/>
          <p:nvPr/>
        </p:nvSpPr>
        <p:spPr>
          <a:xfrm>
            <a:off x="2606040" y="3063240"/>
            <a:ext cx="146304" cy="0"/>
          </a:xfrm>
          <a:prstGeom prst="line">
            <a:avLst/>
          </a:prstGeom>
          <a:noFill/>
          <a:ln w="25400">
            <a:solidFill>
              <a:srgbClr val="3A468C"/>
            </a:solidFill>
            <a:prstDash val="solid"/>
            <a:tailEnd type="triangle"/>
          </a:ln>
        </p:spPr>
      </p:sp>
      <p:sp>
        <p:nvSpPr>
          <p:cNvPr id="10" name="Shape 8"/>
          <p:cNvSpPr/>
          <p:nvPr/>
        </p:nvSpPr>
        <p:spPr>
          <a:xfrm>
            <a:off x="2752344" y="2011680"/>
            <a:ext cx="2084832" cy="2103120"/>
          </a:xfrm>
          <a:prstGeom prst="roundRect">
            <a:avLst>
              <a:gd name="adj" fmla="val 3509"/>
            </a:avLst>
          </a:prstGeom>
          <a:solidFill>
            <a:srgbClr val="EEF2FB"/>
          </a:solidFill>
          <a:ln/>
          <a:effectLst>
            <a:outerShdw blurRad="76200" dist="25400" dir="5400000" algn="bl" rotWithShape="0">
              <a:srgbClr val="9AA5B1">
                <a:alpha val="25000"/>
              </a:srgbClr>
            </a:outerShdw>
          </a:effectLst>
        </p:spPr>
      </p:sp>
      <p:sp>
        <p:nvSpPr>
          <p:cNvPr id="11" name="Shape 9"/>
          <p:cNvSpPr/>
          <p:nvPr/>
        </p:nvSpPr>
        <p:spPr>
          <a:xfrm>
            <a:off x="2889504" y="2148840"/>
            <a:ext cx="365760" cy="365760"/>
          </a:xfrm>
          <a:prstGeom prst="ellipse">
            <a:avLst/>
          </a:prstGeom>
          <a:solidFill>
            <a:srgbClr val="1E2761"/>
          </a:solidFill>
          <a:ln/>
        </p:spPr>
      </p:sp>
      <p:sp>
        <p:nvSpPr>
          <p:cNvPr id="12" name="Text 10"/>
          <p:cNvSpPr/>
          <p:nvPr/>
        </p:nvSpPr>
        <p:spPr>
          <a:xfrm>
            <a:off x="2889504" y="21488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889504" y="2606040"/>
            <a:ext cx="1810512"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Email Verification</a:t>
            </a:r>
            <a:endParaRPr lang="en-US" sz="1300" dirty="0"/>
          </a:p>
        </p:txBody>
      </p:sp>
      <p:sp>
        <p:nvSpPr>
          <p:cNvPr id="14" name="Text 12"/>
          <p:cNvSpPr/>
          <p:nvPr/>
        </p:nvSpPr>
        <p:spPr>
          <a:xfrm>
            <a:off x="2889504" y="3337560"/>
            <a:ext cx="1810512"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Handled entirely by Supabase Auth</a:t>
            </a:r>
            <a:endParaRPr lang="en-US" sz="1050" dirty="0"/>
          </a:p>
        </p:txBody>
      </p:sp>
      <p:sp>
        <p:nvSpPr>
          <p:cNvPr id="15" name="Shape 13"/>
          <p:cNvSpPr/>
          <p:nvPr/>
        </p:nvSpPr>
        <p:spPr>
          <a:xfrm>
            <a:off x="4855464" y="3063240"/>
            <a:ext cx="146304" cy="0"/>
          </a:xfrm>
          <a:prstGeom prst="line">
            <a:avLst/>
          </a:prstGeom>
          <a:noFill/>
          <a:ln w="25400">
            <a:solidFill>
              <a:srgbClr val="3A468C"/>
            </a:solidFill>
            <a:prstDash val="solid"/>
            <a:tailEnd type="triangle"/>
          </a:ln>
        </p:spPr>
      </p:sp>
      <p:sp>
        <p:nvSpPr>
          <p:cNvPr id="16" name="Shape 14"/>
          <p:cNvSpPr/>
          <p:nvPr/>
        </p:nvSpPr>
        <p:spPr>
          <a:xfrm>
            <a:off x="5001768" y="2011680"/>
            <a:ext cx="2084832" cy="2103120"/>
          </a:xfrm>
          <a:prstGeom prst="roundRect">
            <a:avLst>
              <a:gd name="adj" fmla="val 3509"/>
            </a:avLst>
          </a:prstGeom>
          <a:solidFill>
            <a:srgbClr val="EEF2FB"/>
          </a:solidFill>
          <a:ln/>
          <a:effectLst>
            <a:outerShdw blurRad="76200" dist="25400" dir="5400000" algn="bl" rotWithShape="0">
              <a:srgbClr val="9AA5B1">
                <a:alpha val="25000"/>
              </a:srgbClr>
            </a:outerShdw>
          </a:effectLst>
        </p:spPr>
      </p:sp>
      <p:sp>
        <p:nvSpPr>
          <p:cNvPr id="17" name="Shape 15"/>
          <p:cNvSpPr/>
          <p:nvPr/>
        </p:nvSpPr>
        <p:spPr>
          <a:xfrm>
            <a:off x="5138928" y="2148840"/>
            <a:ext cx="365760" cy="365760"/>
          </a:xfrm>
          <a:prstGeom prst="ellipse">
            <a:avLst/>
          </a:prstGeom>
          <a:solidFill>
            <a:srgbClr val="1E2761"/>
          </a:solidFill>
          <a:ln/>
        </p:spPr>
      </p:sp>
      <p:sp>
        <p:nvSpPr>
          <p:cNvPr id="18" name="Text 16"/>
          <p:cNvSpPr/>
          <p:nvPr/>
        </p:nvSpPr>
        <p:spPr>
          <a:xfrm>
            <a:off x="5138928" y="21488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5138928" y="2606040"/>
            <a:ext cx="1810512"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Pending Approval</a:t>
            </a:r>
            <a:endParaRPr lang="en-US" sz="1300" dirty="0"/>
          </a:p>
        </p:txBody>
      </p:sp>
      <p:sp>
        <p:nvSpPr>
          <p:cNvPr id="20" name="Text 18"/>
          <p:cNvSpPr/>
          <p:nvPr/>
        </p:nvSpPr>
        <p:spPr>
          <a:xfrm>
            <a:off x="5138928" y="3337560"/>
            <a:ext cx="1810512"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Account exists, but dashboard is locked</a:t>
            </a:r>
            <a:endParaRPr lang="en-US" sz="1050" dirty="0"/>
          </a:p>
        </p:txBody>
      </p:sp>
      <p:sp>
        <p:nvSpPr>
          <p:cNvPr id="21" name="Shape 19"/>
          <p:cNvSpPr/>
          <p:nvPr/>
        </p:nvSpPr>
        <p:spPr>
          <a:xfrm>
            <a:off x="7104888" y="3063240"/>
            <a:ext cx="146304" cy="0"/>
          </a:xfrm>
          <a:prstGeom prst="line">
            <a:avLst/>
          </a:prstGeom>
          <a:noFill/>
          <a:ln w="25400">
            <a:solidFill>
              <a:srgbClr val="3A468C"/>
            </a:solidFill>
            <a:prstDash val="solid"/>
            <a:tailEnd type="triangle"/>
          </a:ln>
        </p:spPr>
      </p:sp>
      <p:sp>
        <p:nvSpPr>
          <p:cNvPr id="22" name="Shape 20"/>
          <p:cNvSpPr/>
          <p:nvPr/>
        </p:nvSpPr>
        <p:spPr>
          <a:xfrm>
            <a:off x="7251192" y="2011680"/>
            <a:ext cx="2084832" cy="2103120"/>
          </a:xfrm>
          <a:prstGeom prst="roundRect">
            <a:avLst>
              <a:gd name="adj" fmla="val 3509"/>
            </a:avLst>
          </a:prstGeom>
          <a:solidFill>
            <a:srgbClr val="EEF2FB"/>
          </a:solidFill>
          <a:ln/>
          <a:effectLst>
            <a:outerShdw blurRad="76200" dist="25400" dir="5400000" algn="bl" rotWithShape="0">
              <a:srgbClr val="9AA5B1">
                <a:alpha val="25000"/>
              </a:srgbClr>
            </a:outerShdw>
          </a:effectLst>
        </p:spPr>
      </p:sp>
      <p:sp>
        <p:nvSpPr>
          <p:cNvPr id="23" name="Shape 21"/>
          <p:cNvSpPr/>
          <p:nvPr/>
        </p:nvSpPr>
        <p:spPr>
          <a:xfrm>
            <a:off x="7388352" y="2148840"/>
            <a:ext cx="365760" cy="365760"/>
          </a:xfrm>
          <a:prstGeom prst="ellipse">
            <a:avLst/>
          </a:prstGeom>
          <a:solidFill>
            <a:srgbClr val="1E2761"/>
          </a:solidFill>
          <a:ln/>
        </p:spPr>
      </p:sp>
      <p:sp>
        <p:nvSpPr>
          <p:cNvPr id="24" name="Text 22"/>
          <p:cNvSpPr/>
          <p:nvPr/>
        </p:nvSpPr>
        <p:spPr>
          <a:xfrm>
            <a:off x="7388352" y="21488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7388352" y="2606040"/>
            <a:ext cx="1810512"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Admin Approves</a:t>
            </a:r>
            <a:endParaRPr lang="en-US" sz="1300" dirty="0"/>
          </a:p>
        </p:txBody>
      </p:sp>
      <p:sp>
        <p:nvSpPr>
          <p:cNvPr id="26" name="Text 24"/>
          <p:cNvSpPr/>
          <p:nvPr/>
        </p:nvSpPr>
        <p:spPr>
          <a:xfrm>
            <a:off x="7388352" y="3337560"/>
            <a:ext cx="1810512"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Admin reviews and approves in /admin</a:t>
            </a:r>
            <a:endParaRPr lang="en-US" sz="1050" dirty="0"/>
          </a:p>
        </p:txBody>
      </p:sp>
      <p:sp>
        <p:nvSpPr>
          <p:cNvPr id="27" name="Shape 25"/>
          <p:cNvSpPr/>
          <p:nvPr/>
        </p:nvSpPr>
        <p:spPr>
          <a:xfrm>
            <a:off x="9354312" y="3063240"/>
            <a:ext cx="146304" cy="0"/>
          </a:xfrm>
          <a:prstGeom prst="line">
            <a:avLst/>
          </a:prstGeom>
          <a:noFill/>
          <a:ln w="25400">
            <a:solidFill>
              <a:srgbClr val="3A468C"/>
            </a:solidFill>
            <a:prstDash val="solid"/>
            <a:tailEnd type="triangle"/>
          </a:ln>
        </p:spPr>
      </p:sp>
      <p:sp>
        <p:nvSpPr>
          <p:cNvPr id="28" name="Shape 26"/>
          <p:cNvSpPr/>
          <p:nvPr/>
        </p:nvSpPr>
        <p:spPr>
          <a:xfrm>
            <a:off x="9500616" y="2011680"/>
            <a:ext cx="2084832" cy="2103120"/>
          </a:xfrm>
          <a:prstGeom prst="roundRect">
            <a:avLst>
              <a:gd name="adj" fmla="val 3509"/>
            </a:avLst>
          </a:prstGeom>
          <a:solidFill>
            <a:srgbClr val="EEF2FB"/>
          </a:solidFill>
          <a:ln/>
          <a:effectLst>
            <a:outerShdw blurRad="76200" dist="25400" dir="5400000" algn="bl" rotWithShape="0">
              <a:srgbClr val="9AA5B1">
                <a:alpha val="25000"/>
              </a:srgbClr>
            </a:outerShdw>
          </a:effectLst>
        </p:spPr>
      </p:sp>
      <p:sp>
        <p:nvSpPr>
          <p:cNvPr id="29" name="Shape 27"/>
          <p:cNvSpPr/>
          <p:nvPr/>
        </p:nvSpPr>
        <p:spPr>
          <a:xfrm>
            <a:off x="9637776" y="2148840"/>
            <a:ext cx="365760" cy="365760"/>
          </a:xfrm>
          <a:prstGeom prst="ellipse">
            <a:avLst/>
          </a:prstGeom>
          <a:solidFill>
            <a:srgbClr val="1E2761"/>
          </a:solidFill>
          <a:ln/>
        </p:spPr>
      </p:sp>
      <p:sp>
        <p:nvSpPr>
          <p:cNvPr id="30" name="Text 28"/>
          <p:cNvSpPr/>
          <p:nvPr/>
        </p:nvSpPr>
        <p:spPr>
          <a:xfrm>
            <a:off x="9637776" y="21488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9637776" y="2606040"/>
            <a:ext cx="1810512"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Access Granted</a:t>
            </a:r>
            <a:endParaRPr lang="en-US" sz="1300" dirty="0"/>
          </a:p>
        </p:txBody>
      </p:sp>
      <p:sp>
        <p:nvSpPr>
          <p:cNvPr id="32" name="Text 30"/>
          <p:cNvSpPr/>
          <p:nvPr/>
        </p:nvSpPr>
        <p:spPr>
          <a:xfrm>
            <a:off x="9637776" y="3337560"/>
            <a:ext cx="1810512"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Full dashboard access unlocked</a:t>
            </a:r>
            <a:endParaRPr lang="en-US" sz="1050" dirty="0"/>
          </a:p>
        </p:txBody>
      </p:sp>
      <p:sp>
        <p:nvSpPr>
          <p:cNvPr id="33" name="Shape 31"/>
          <p:cNvSpPr/>
          <p:nvPr/>
        </p:nvSpPr>
        <p:spPr>
          <a:xfrm>
            <a:off x="548640" y="4526280"/>
            <a:ext cx="11109960" cy="1463040"/>
          </a:xfrm>
          <a:prstGeom prst="roundRect">
            <a:avLst>
              <a:gd name="adj" fmla="val 5000"/>
            </a:avLst>
          </a:prstGeom>
          <a:solidFill>
            <a:srgbClr val="EEF2FB"/>
          </a:solidFill>
          <a:ln/>
          <a:effectLst>
            <a:outerShdw blurRad="76200" dist="25400" dir="5400000" algn="bl" rotWithShape="0">
              <a:srgbClr val="9AA5B1">
                <a:alpha val="25000"/>
              </a:srgbClr>
            </a:outerShdw>
          </a:effectLst>
        </p:spPr>
      </p:sp>
      <p:sp>
        <p:nvSpPr>
          <p:cNvPr id="34" name="Text 32"/>
          <p:cNvSpPr/>
          <p:nvPr/>
        </p:nvSpPr>
        <p:spPr>
          <a:xfrm>
            <a:off x="822960" y="4709160"/>
            <a:ext cx="10515600" cy="1097280"/>
          </a:xfrm>
          <a:prstGeom prst="rect">
            <a:avLst/>
          </a:prstGeom>
          <a:noFill/>
          <a:ln/>
        </p:spPr>
        <p:txBody>
          <a:bodyPr wrap="square" lIns="0" tIns="0" rIns="0" bIns="0" rtlCol="0" anchor="ctr"/>
          <a:lstStyle/>
          <a:p>
            <a:pPr marL="0" indent="0">
              <a:buNone/>
            </a:pPr>
            <a:r>
              <a:rPr lang="en-US" sz="1300" i="1" dirty="0">
                <a:solidFill>
                  <a:srgbClr val="1F2937"/>
                </a:solidFill>
                <a:latin typeface="Calibri" pitchFamily="34" charset="0"/>
                <a:ea typeface="Calibri" pitchFamily="34" charset="-122"/>
                <a:cs typeface="Calibri" pitchFamily="34" charset="-120"/>
              </a:rPr>
              <a:t>Admins can also revoke access at any time — flipping is_approved back to false immediately locks the user out of /dashboard on their next request, enforced by both middleware and the API route itself.</a:t>
            </a:r>
            <a:endParaRPr lang="en-US" sz="1300" dirty="0"/>
          </a:p>
        </p:txBody>
      </p:sp>
      <p:pic>
        <p:nvPicPr>
          <p:cNvPr id="35"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OVERSIGHT &amp; CONTROL</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Admin Dashboard</a:t>
            </a:r>
            <a:endParaRPr lang="en-US" sz="3200" dirty="0"/>
          </a:p>
        </p:txBody>
      </p:sp>
      <p:sp>
        <p:nvSpPr>
          <p:cNvPr id="4" name="Shape 2"/>
          <p:cNvSpPr/>
          <p:nvPr/>
        </p:nvSpPr>
        <p:spPr>
          <a:xfrm>
            <a:off x="640080" y="1737360"/>
            <a:ext cx="502920" cy="502920"/>
          </a:xfrm>
          <a:prstGeom prst="ellipse">
            <a:avLst/>
          </a:prstGeom>
          <a:solidFill>
            <a:srgbClr val="1E2761"/>
          </a:solidFill>
          <a:ln/>
        </p:spPr>
      </p:sp>
      <p:sp>
        <p:nvSpPr>
          <p:cNvPr id="5" name="Text 3"/>
          <p:cNvSpPr/>
          <p:nvPr/>
        </p:nvSpPr>
        <p:spPr>
          <a:xfrm>
            <a:off x="64008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325880" y="1691640"/>
            <a:ext cx="44348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Pending Signups</a:t>
            </a:r>
            <a:endParaRPr lang="en-US" sz="1600" dirty="0"/>
          </a:p>
        </p:txBody>
      </p:sp>
      <p:sp>
        <p:nvSpPr>
          <p:cNvPr id="7" name="Text 5"/>
          <p:cNvSpPr/>
          <p:nvPr/>
        </p:nvSpPr>
        <p:spPr>
          <a:xfrm>
            <a:off x="1325880" y="2011680"/>
            <a:ext cx="44348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See every new signup waiting for approval, with one-click Approve</a:t>
            </a:r>
            <a:endParaRPr lang="en-US" sz="1250" dirty="0"/>
          </a:p>
        </p:txBody>
      </p:sp>
      <p:sp>
        <p:nvSpPr>
          <p:cNvPr id="8" name="Shape 6"/>
          <p:cNvSpPr/>
          <p:nvPr/>
        </p:nvSpPr>
        <p:spPr>
          <a:xfrm>
            <a:off x="640080" y="2788920"/>
            <a:ext cx="502920" cy="502920"/>
          </a:xfrm>
          <a:prstGeom prst="ellipse">
            <a:avLst/>
          </a:prstGeom>
          <a:solidFill>
            <a:srgbClr val="1E2761"/>
          </a:solidFill>
          <a:ln/>
        </p:spPr>
      </p:sp>
      <p:sp>
        <p:nvSpPr>
          <p:cNvPr id="9" name="Text 7"/>
          <p:cNvSpPr/>
          <p:nvPr/>
        </p:nvSpPr>
        <p:spPr>
          <a:xfrm>
            <a:off x="640080" y="2788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325880" y="2743200"/>
            <a:ext cx="44348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Approved Users</a:t>
            </a:r>
            <a:endParaRPr lang="en-US" sz="1600" dirty="0"/>
          </a:p>
        </p:txBody>
      </p:sp>
      <p:sp>
        <p:nvSpPr>
          <p:cNvPr id="11" name="Text 9"/>
          <p:cNvSpPr/>
          <p:nvPr/>
        </p:nvSpPr>
        <p:spPr>
          <a:xfrm>
            <a:off x="1325880" y="3063240"/>
            <a:ext cx="44348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Full team list, with the ability to Revoke access instantly</a:t>
            </a:r>
            <a:endParaRPr lang="en-US" sz="1250" dirty="0"/>
          </a:p>
        </p:txBody>
      </p:sp>
      <p:sp>
        <p:nvSpPr>
          <p:cNvPr id="12" name="Shape 10"/>
          <p:cNvSpPr/>
          <p:nvPr/>
        </p:nvSpPr>
        <p:spPr>
          <a:xfrm>
            <a:off x="640080" y="3840480"/>
            <a:ext cx="502920" cy="502920"/>
          </a:xfrm>
          <a:prstGeom prst="ellipse">
            <a:avLst/>
          </a:prstGeom>
          <a:solidFill>
            <a:srgbClr val="1E2761"/>
          </a:solidFill>
          <a:ln/>
        </p:spPr>
      </p:sp>
      <p:sp>
        <p:nvSpPr>
          <p:cNvPr id="13" name="Text 11"/>
          <p:cNvSpPr/>
          <p:nvPr/>
        </p:nvSpPr>
        <p:spPr>
          <a:xfrm>
            <a:off x="640080" y="3840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325880" y="3794760"/>
            <a:ext cx="44348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Full Prompt Log</a:t>
            </a:r>
            <a:endParaRPr lang="en-US" sz="1600" dirty="0"/>
          </a:p>
        </p:txBody>
      </p:sp>
      <p:sp>
        <p:nvSpPr>
          <p:cNvPr id="15" name="Text 13"/>
          <p:cNvSpPr/>
          <p:nvPr/>
        </p:nvSpPr>
        <p:spPr>
          <a:xfrm>
            <a:off x="1325880" y="4114800"/>
            <a:ext cx="44348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Every request: who sent it, the input prompt, the generated output, and which scenario matched</a:t>
            </a:r>
            <a:endParaRPr lang="en-US" sz="1250" dirty="0"/>
          </a:p>
        </p:txBody>
      </p:sp>
      <p:sp>
        <p:nvSpPr>
          <p:cNvPr id="16" name="Shape 14"/>
          <p:cNvSpPr/>
          <p:nvPr/>
        </p:nvSpPr>
        <p:spPr>
          <a:xfrm>
            <a:off x="6035040" y="1737360"/>
            <a:ext cx="5623560" cy="4480560"/>
          </a:xfrm>
          <a:prstGeom prst="roundRect">
            <a:avLst>
              <a:gd name="adj" fmla="val 1633"/>
            </a:avLst>
          </a:prstGeom>
          <a:solidFill>
            <a:srgbClr val="EEF2FB"/>
          </a:solidFill>
          <a:ln/>
          <a:effectLst>
            <a:outerShdw blurRad="76200" dist="25400" dir="5400000" algn="bl" rotWithShape="0">
              <a:srgbClr val="9AA5B1">
                <a:alpha val="25000"/>
              </a:srgbClr>
            </a:outerShdw>
          </a:effectLst>
        </p:spPr>
      </p:sp>
      <p:sp>
        <p:nvSpPr>
          <p:cNvPr id="17" name="Text 15"/>
          <p:cNvSpPr/>
          <p:nvPr/>
        </p:nvSpPr>
        <p:spPr>
          <a:xfrm>
            <a:off x="6263640" y="1920240"/>
            <a:ext cx="5120640" cy="274320"/>
          </a:xfrm>
          <a:prstGeom prst="rect">
            <a:avLst/>
          </a:prstGeom>
          <a:noFill/>
          <a:ln/>
        </p:spPr>
        <p:txBody>
          <a:bodyPr wrap="square"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PROMPT LOG (LIVE VIEW)</a:t>
            </a:r>
            <a:endParaRPr lang="en-US" sz="1000" dirty="0"/>
          </a:p>
        </p:txBody>
      </p:sp>
      <p:sp>
        <p:nvSpPr>
          <p:cNvPr id="18" name="Shape 16"/>
          <p:cNvSpPr/>
          <p:nvPr/>
        </p:nvSpPr>
        <p:spPr>
          <a:xfrm>
            <a:off x="6263640" y="2331720"/>
            <a:ext cx="5166360" cy="1051560"/>
          </a:xfrm>
          <a:prstGeom prst="roundRect">
            <a:avLst>
              <a:gd name="adj" fmla="val 4348"/>
            </a:avLst>
          </a:prstGeom>
          <a:solidFill>
            <a:srgbClr val="FFFFFF"/>
          </a:solidFill>
          <a:ln w="12700">
            <a:solidFill>
              <a:srgbClr val="D8DEEC"/>
            </a:solidFill>
            <a:prstDash val="solid"/>
          </a:ln>
        </p:spPr>
      </p:sp>
      <p:sp>
        <p:nvSpPr>
          <p:cNvPr id="19" name="Text 17"/>
          <p:cNvSpPr/>
          <p:nvPr/>
        </p:nvSpPr>
        <p:spPr>
          <a:xfrm>
            <a:off x="6446520" y="2423160"/>
            <a:ext cx="1828800" cy="274320"/>
          </a:xfrm>
          <a:prstGeom prst="rect">
            <a:avLst/>
          </a:prstGeom>
          <a:noFill/>
          <a:ln/>
        </p:spPr>
        <p:txBody>
          <a:bodyPr wrap="square" lIns="0" tIns="0" rIns="0" bIns="0" rtlCol="0" anchor="ctr"/>
          <a:lstStyle/>
          <a:p>
            <a:pPr marL="0" indent="0">
              <a:buNone/>
            </a:pPr>
            <a:r>
              <a:rPr lang="en-US" sz="1150" b="1" dirty="0">
                <a:solidFill>
                  <a:srgbClr val="1F2937"/>
                </a:solidFill>
                <a:latin typeface="Calibri" pitchFamily="34" charset="0"/>
                <a:ea typeface="Calibri" pitchFamily="34" charset="-122"/>
                <a:cs typeface="Calibri" pitchFamily="34" charset="-120"/>
              </a:rPr>
              <a:t>Ali Raza</a:t>
            </a:r>
            <a:endParaRPr lang="en-US" sz="1150" dirty="0"/>
          </a:p>
        </p:txBody>
      </p:sp>
      <p:sp>
        <p:nvSpPr>
          <p:cNvPr id="20" name="Text 18"/>
          <p:cNvSpPr/>
          <p:nvPr/>
        </p:nvSpPr>
        <p:spPr>
          <a:xfrm>
            <a:off x="8686800" y="2423160"/>
            <a:ext cx="1645920" cy="274320"/>
          </a:xfrm>
          <a:prstGeom prst="rect">
            <a:avLst/>
          </a:prstGeom>
          <a:noFill/>
          <a:ln/>
        </p:spPr>
        <p:txBody>
          <a:bodyPr wrap="square" lIns="0" tIns="0" rIns="0" bIns="0" rtlCol="0" anchor="ctr"/>
          <a:lstStyle/>
          <a:p>
            <a:pPr marL="0" indent="0" algn="r">
              <a:buNone/>
            </a:pPr>
            <a:r>
              <a:rPr lang="en-US" sz="950" b="1" dirty="0">
                <a:solidFill>
                  <a:srgbClr val="15803D"/>
                </a:solidFill>
                <a:latin typeface="Calibri" pitchFamily="34" charset="0"/>
                <a:ea typeface="Calibri" pitchFamily="34" charset="-122"/>
                <a:cs typeface="Calibri" pitchFamily="34" charset="-120"/>
              </a:rPr>
              <a:t>generated</a:t>
            </a:r>
            <a:endParaRPr lang="en-US" sz="950" dirty="0"/>
          </a:p>
        </p:txBody>
      </p:sp>
      <p:sp>
        <p:nvSpPr>
          <p:cNvPr id="21" name="Text 19"/>
          <p:cNvSpPr/>
          <p:nvPr/>
        </p:nvSpPr>
        <p:spPr>
          <a:xfrm>
            <a:off x="6446520" y="2715768"/>
            <a:ext cx="484632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Prompt: Angry client delayed delivery</a:t>
            </a:r>
            <a:endParaRPr lang="en-US" sz="1000" dirty="0"/>
          </a:p>
        </p:txBody>
      </p:sp>
      <p:sp>
        <p:nvSpPr>
          <p:cNvPr id="22" name="Text 20"/>
          <p:cNvSpPr/>
          <p:nvPr/>
        </p:nvSpPr>
        <p:spPr>
          <a:xfrm>
            <a:off x="6446520" y="2990088"/>
            <a:ext cx="4846320" cy="274320"/>
          </a:xfrm>
          <a:prstGeom prst="rect">
            <a:avLst/>
          </a:prstGeom>
          <a:noFill/>
          <a:ln/>
        </p:spPr>
        <p:txBody>
          <a:bodyPr wrap="square" lIns="0" tIns="0" rIns="0" bIns="0" rtlCol="0" anchor="ctr"/>
          <a:lstStyle/>
          <a:p>
            <a:pPr marL="0" indent="0">
              <a:buNone/>
            </a:pPr>
            <a:r>
              <a:rPr lang="en-US" sz="1000" i="1" dirty="0">
                <a:solidFill>
                  <a:srgbClr val="1F2937"/>
                </a:solidFill>
                <a:latin typeface="Calibri" pitchFamily="34" charset="0"/>
                <a:ea typeface="Calibri" pitchFamily="34" charset="-122"/>
                <a:cs typeface="Calibri" pitchFamily="34" charset="-120"/>
              </a:rPr>
              <a:t>Output: Update on Project Timeline...</a:t>
            </a:r>
            <a:endParaRPr lang="en-US" sz="1000" dirty="0"/>
          </a:p>
        </p:txBody>
      </p:sp>
      <p:sp>
        <p:nvSpPr>
          <p:cNvPr id="23" name="Shape 21"/>
          <p:cNvSpPr/>
          <p:nvPr/>
        </p:nvSpPr>
        <p:spPr>
          <a:xfrm>
            <a:off x="6263640" y="3520440"/>
            <a:ext cx="5166360" cy="1051560"/>
          </a:xfrm>
          <a:prstGeom prst="roundRect">
            <a:avLst>
              <a:gd name="adj" fmla="val 4348"/>
            </a:avLst>
          </a:prstGeom>
          <a:solidFill>
            <a:srgbClr val="FFFFFF"/>
          </a:solidFill>
          <a:ln w="12700">
            <a:solidFill>
              <a:srgbClr val="D8DEEC"/>
            </a:solidFill>
            <a:prstDash val="solid"/>
          </a:ln>
        </p:spPr>
      </p:sp>
      <p:sp>
        <p:nvSpPr>
          <p:cNvPr id="24" name="Text 22"/>
          <p:cNvSpPr/>
          <p:nvPr/>
        </p:nvSpPr>
        <p:spPr>
          <a:xfrm>
            <a:off x="6446520" y="3611880"/>
            <a:ext cx="1828800" cy="274320"/>
          </a:xfrm>
          <a:prstGeom prst="rect">
            <a:avLst/>
          </a:prstGeom>
          <a:noFill/>
          <a:ln/>
        </p:spPr>
        <p:txBody>
          <a:bodyPr wrap="square" lIns="0" tIns="0" rIns="0" bIns="0" rtlCol="0" anchor="ctr"/>
          <a:lstStyle/>
          <a:p>
            <a:pPr marL="0" indent="0">
              <a:buNone/>
            </a:pPr>
            <a:r>
              <a:rPr lang="en-US" sz="1150" b="1" dirty="0">
                <a:solidFill>
                  <a:srgbClr val="1F2937"/>
                </a:solidFill>
                <a:latin typeface="Calibri" pitchFamily="34" charset="0"/>
                <a:ea typeface="Calibri" pitchFamily="34" charset="-122"/>
                <a:cs typeface="Calibri" pitchFamily="34" charset="-120"/>
              </a:rPr>
              <a:t>Sana K.</a:t>
            </a:r>
            <a:endParaRPr lang="en-US" sz="1150" dirty="0"/>
          </a:p>
        </p:txBody>
      </p:sp>
      <p:sp>
        <p:nvSpPr>
          <p:cNvPr id="25" name="Text 23"/>
          <p:cNvSpPr/>
          <p:nvPr/>
        </p:nvSpPr>
        <p:spPr>
          <a:xfrm>
            <a:off x="8686800" y="3611880"/>
            <a:ext cx="1645920" cy="274320"/>
          </a:xfrm>
          <a:prstGeom prst="rect">
            <a:avLst/>
          </a:prstGeom>
          <a:noFill/>
          <a:ln/>
        </p:spPr>
        <p:txBody>
          <a:bodyPr wrap="square" lIns="0" tIns="0" rIns="0" bIns="0" rtlCol="0" anchor="ctr"/>
          <a:lstStyle/>
          <a:p>
            <a:pPr marL="0" indent="0" algn="r">
              <a:buNone/>
            </a:pPr>
            <a:r>
              <a:rPr lang="en-US" sz="950" b="1" dirty="0">
                <a:solidFill>
                  <a:srgbClr val="15803D"/>
                </a:solidFill>
                <a:latin typeface="Calibri" pitchFamily="34" charset="0"/>
                <a:ea typeface="Calibri" pitchFamily="34" charset="-122"/>
                <a:cs typeface="Calibri" pitchFamily="34" charset="-120"/>
              </a:rPr>
              <a:t>generated</a:t>
            </a:r>
            <a:endParaRPr lang="en-US" sz="950" dirty="0"/>
          </a:p>
        </p:txBody>
      </p:sp>
      <p:sp>
        <p:nvSpPr>
          <p:cNvPr id="26" name="Text 24"/>
          <p:cNvSpPr/>
          <p:nvPr/>
        </p:nvSpPr>
        <p:spPr>
          <a:xfrm>
            <a:off x="6446520" y="3904488"/>
            <a:ext cx="484632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Prompt: Discount request from client</a:t>
            </a:r>
            <a:endParaRPr lang="en-US" sz="1000" dirty="0"/>
          </a:p>
        </p:txBody>
      </p:sp>
      <p:sp>
        <p:nvSpPr>
          <p:cNvPr id="27" name="Text 25"/>
          <p:cNvSpPr/>
          <p:nvPr/>
        </p:nvSpPr>
        <p:spPr>
          <a:xfrm>
            <a:off x="6446520" y="4178808"/>
            <a:ext cx="4846320" cy="274320"/>
          </a:xfrm>
          <a:prstGeom prst="rect">
            <a:avLst/>
          </a:prstGeom>
          <a:noFill/>
          <a:ln/>
        </p:spPr>
        <p:txBody>
          <a:bodyPr wrap="square" lIns="0" tIns="0" rIns="0" bIns="0" rtlCol="0" anchor="ctr"/>
          <a:lstStyle/>
          <a:p>
            <a:pPr marL="0" indent="0">
              <a:buNone/>
            </a:pPr>
            <a:r>
              <a:rPr lang="en-US" sz="1000" i="1" dirty="0">
                <a:solidFill>
                  <a:srgbClr val="1F2937"/>
                </a:solidFill>
                <a:latin typeface="Calibri" pitchFamily="34" charset="0"/>
                <a:ea typeface="Calibri" pitchFamily="34" charset="-122"/>
                <a:cs typeface="Calibri" pitchFamily="34" charset="-120"/>
              </a:rPr>
              <a:t>Output: Re: Pricing on Service...</a:t>
            </a:r>
            <a:endParaRPr lang="en-US" sz="1000" dirty="0"/>
          </a:p>
        </p:txBody>
      </p:sp>
      <p:sp>
        <p:nvSpPr>
          <p:cNvPr id="28" name="Shape 26"/>
          <p:cNvSpPr/>
          <p:nvPr/>
        </p:nvSpPr>
        <p:spPr>
          <a:xfrm>
            <a:off x="6263640" y="4709160"/>
            <a:ext cx="5166360" cy="1051560"/>
          </a:xfrm>
          <a:prstGeom prst="roundRect">
            <a:avLst>
              <a:gd name="adj" fmla="val 4348"/>
            </a:avLst>
          </a:prstGeom>
          <a:solidFill>
            <a:srgbClr val="FFFFFF"/>
          </a:solidFill>
          <a:ln w="12700">
            <a:solidFill>
              <a:srgbClr val="D8DEEC"/>
            </a:solidFill>
            <a:prstDash val="solid"/>
          </a:ln>
        </p:spPr>
      </p:sp>
      <p:sp>
        <p:nvSpPr>
          <p:cNvPr id="29" name="Text 27"/>
          <p:cNvSpPr/>
          <p:nvPr/>
        </p:nvSpPr>
        <p:spPr>
          <a:xfrm>
            <a:off x="6446520" y="4800600"/>
            <a:ext cx="1828800" cy="274320"/>
          </a:xfrm>
          <a:prstGeom prst="rect">
            <a:avLst/>
          </a:prstGeom>
          <a:noFill/>
          <a:ln/>
        </p:spPr>
        <p:txBody>
          <a:bodyPr wrap="square" lIns="0" tIns="0" rIns="0" bIns="0" rtlCol="0" anchor="ctr"/>
          <a:lstStyle/>
          <a:p>
            <a:pPr marL="0" indent="0">
              <a:buNone/>
            </a:pPr>
            <a:r>
              <a:rPr lang="en-US" sz="1150" b="1" dirty="0">
                <a:solidFill>
                  <a:srgbClr val="1F2937"/>
                </a:solidFill>
                <a:latin typeface="Calibri" pitchFamily="34" charset="0"/>
                <a:ea typeface="Calibri" pitchFamily="34" charset="-122"/>
                <a:cs typeface="Calibri" pitchFamily="34" charset="-120"/>
              </a:rPr>
              <a:t>Bilal A.</a:t>
            </a:r>
            <a:endParaRPr lang="en-US" sz="1150" dirty="0"/>
          </a:p>
        </p:txBody>
      </p:sp>
      <p:sp>
        <p:nvSpPr>
          <p:cNvPr id="30" name="Text 28"/>
          <p:cNvSpPr/>
          <p:nvPr/>
        </p:nvSpPr>
        <p:spPr>
          <a:xfrm>
            <a:off x="8686800" y="4800600"/>
            <a:ext cx="1645920" cy="274320"/>
          </a:xfrm>
          <a:prstGeom prst="rect">
            <a:avLst/>
          </a:prstGeom>
          <a:noFill/>
          <a:ln/>
        </p:spPr>
        <p:txBody>
          <a:bodyPr wrap="square" lIns="0" tIns="0" rIns="0" bIns="0" rtlCol="0" anchor="ctr"/>
          <a:lstStyle/>
          <a:p>
            <a:pPr marL="0" indent="0" algn="r">
              <a:buNone/>
            </a:pPr>
            <a:r>
              <a:rPr lang="en-US" sz="950" b="1" dirty="0">
                <a:solidFill>
                  <a:srgbClr val="B91C1C"/>
                </a:solidFill>
                <a:latin typeface="Calibri" pitchFamily="34" charset="0"/>
                <a:ea typeface="Calibri" pitchFamily="34" charset="-122"/>
                <a:cs typeface="Calibri" pitchFamily="34" charset="-120"/>
              </a:rPr>
              <a:t>refused</a:t>
            </a:r>
            <a:endParaRPr lang="en-US" sz="950" dirty="0"/>
          </a:p>
        </p:txBody>
      </p:sp>
      <p:sp>
        <p:nvSpPr>
          <p:cNvPr id="31" name="Text 29"/>
          <p:cNvSpPr/>
          <p:nvPr/>
        </p:nvSpPr>
        <p:spPr>
          <a:xfrm>
            <a:off x="6446520" y="5093208"/>
            <a:ext cx="484632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Prompt: Write me a birthday poem</a:t>
            </a:r>
            <a:endParaRPr lang="en-US" sz="1000" dirty="0"/>
          </a:p>
        </p:txBody>
      </p:sp>
      <p:sp>
        <p:nvSpPr>
          <p:cNvPr id="32" name="Text 30"/>
          <p:cNvSpPr/>
          <p:nvPr/>
        </p:nvSpPr>
        <p:spPr>
          <a:xfrm>
            <a:off x="6446520" y="5367528"/>
            <a:ext cx="4846320" cy="274320"/>
          </a:xfrm>
          <a:prstGeom prst="rect">
            <a:avLst/>
          </a:prstGeom>
          <a:noFill/>
          <a:ln/>
        </p:spPr>
        <p:txBody>
          <a:bodyPr wrap="square" lIns="0" tIns="0" rIns="0" bIns="0" rtlCol="0" anchor="ctr"/>
          <a:lstStyle/>
          <a:p>
            <a:pPr marL="0" indent="0">
              <a:buNone/>
            </a:pPr>
            <a:r>
              <a:rPr lang="en-US" sz="1000" i="1" dirty="0">
                <a:solidFill>
                  <a:srgbClr val="1F2937"/>
                </a:solidFill>
                <a:latin typeface="Calibri" pitchFamily="34" charset="0"/>
                <a:ea typeface="Calibri" pitchFamily="34" charset="-122"/>
                <a:cs typeface="Calibri" pitchFamily="34" charset="-120"/>
              </a:rPr>
              <a:t>Output: Refused — out of context</a:t>
            </a:r>
            <a:endParaRPr lang="en-US" sz="1000" dirty="0"/>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9AA9D6"/>
                </a:solidFill>
                <a:latin typeface="Calibri" pitchFamily="34" charset="0"/>
                <a:ea typeface="Calibri" pitchFamily="34" charset="-122"/>
                <a:cs typeface="Calibri" pitchFamily="34" charset="-120"/>
              </a:rPr>
              <a:t>SEE IT WORK</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Demo: The Angry Client Scenario</a:t>
            </a:r>
            <a:endParaRPr lang="en-US" sz="3200" dirty="0"/>
          </a:p>
        </p:txBody>
      </p:sp>
      <p:sp>
        <p:nvSpPr>
          <p:cNvPr id="4" name="Shape 2"/>
          <p:cNvSpPr/>
          <p:nvPr/>
        </p:nvSpPr>
        <p:spPr>
          <a:xfrm>
            <a:off x="640080" y="1737360"/>
            <a:ext cx="5120640" cy="4297680"/>
          </a:xfrm>
          <a:prstGeom prst="roundRect">
            <a:avLst>
              <a:gd name="adj" fmla="val 1702"/>
            </a:avLst>
          </a:prstGeom>
          <a:solidFill>
            <a:srgbClr val="3A468C"/>
          </a:solidFill>
          <a:ln/>
          <a:effectLst>
            <a:outerShdw blurRad="76200" dist="25400" dir="5400000" algn="bl" rotWithShape="0">
              <a:srgbClr val="9AA5B1">
                <a:alpha val="25000"/>
              </a:srgbClr>
            </a:outerShdw>
          </a:effectLst>
        </p:spPr>
      </p:sp>
      <p:sp>
        <p:nvSpPr>
          <p:cNvPr id="5" name="Text 3"/>
          <p:cNvSpPr/>
          <p:nvPr/>
        </p:nvSpPr>
        <p:spPr>
          <a:xfrm>
            <a:off x="914400" y="1965960"/>
            <a:ext cx="4572000" cy="274320"/>
          </a:xfrm>
          <a:prstGeom prst="rect">
            <a:avLst/>
          </a:prstGeom>
          <a:noFill/>
          <a:ln/>
        </p:spPr>
        <p:txBody>
          <a:bodyPr wrap="square"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JUNIOR STAFF TYPES</a:t>
            </a:r>
            <a:endParaRPr lang="en-US" sz="1100" dirty="0"/>
          </a:p>
        </p:txBody>
      </p:sp>
      <p:sp>
        <p:nvSpPr>
          <p:cNvPr id="6" name="Text 4"/>
          <p:cNvSpPr/>
          <p:nvPr/>
        </p:nvSpPr>
        <p:spPr>
          <a:xfrm>
            <a:off x="914400" y="2377440"/>
            <a:ext cx="4572000" cy="1463040"/>
          </a:xfrm>
          <a:prstGeom prst="rect">
            <a:avLst/>
          </a:prstGeom>
          <a:noFill/>
          <a:ln/>
        </p:spPr>
        <p:txBody>
          <a:bodyPr wrap="square" lIns="0" tIns="0" rIns="0" bIns="0" rtlCol="0" anchor="t"/>
          <a:lstStyle/>
          <a:p>
            <a:r>
              <a:rPr lang="en-US" sz="1500" i="1" dirty="0" smtClean="0">
                <a:solidFill>
                  <a:srgbClr val="FFFFFF"/>
                </a:solidFill>
                <a:latin typeface="Calibri" pitchFamily="34" charset="0"/>
                <a:ea typeface="Calibri" pitchFamily="34" charset="-122"/>
                <a:cs typeface="Calibri" pitchFamily="34" charset="-120"/>
              </a:rPr>
              <a:t>"</a:t>
            </a:r>
            <a:r>
              <a:rPr lang="en-US" sz="1600" dirty="0"/>
              <a:t> </a:t>
            </a:r>
            <a:r>
              <a:rPr lang="en-US" sz="1500" i="1" dirty="0">
                <a:solidFill>
                  <a:srgbClr val="FFFFFF"/>
                </a:solidFill>
                <a:latin typeface="Calibri" pitchFamily="34" charset="0"/>
                <a:ea typeface="Calibri" pitchFamily="34" charset="-122"/>
                <a:cs typeface="Calibri" pitchFamily="34" charset="-120"/>
              </a:rPr>
              <a:t>The client is very upset because the delivery was delayed by one week. </a:t>
            </a:r>
            <a:r>
              <a:rPr lang="en-US" sz="1500" i="1" dirty="0">
                <a:solidFill>
                  <a:srgbClr val="FFFFFF"/>
                </a:solidFill>
                <a:latin typeface="Calibri" pitchFamily="34" charset="0"/>
                <a:ea typeface="Calibri" pitchFamily="34" charset="-122"/>
                <a:cs typeface="Calibri" pitchFamily="34" charset="-120"/>
              </a:rPr>
              <a:t>We need to calm the client down and request an additional three days to complete the remaining work</a:t>
            </a:r>
            <a:r>
              <a:rPr lang="en-US" sz="1500" i="1" dirty="0" smtClean="0">
                <a:solidFill>
                  <a:srgbClr val="FFFFFF"/>
                </a:solidFill>
                <a:latin typeface="Calibri" pitchFamily="34" charset="0"/>
                <a:ea typeface="Calibri" pitchFamily="34" charset="-122"/>
                <a:cs typeface="Calibri" pitchFamily="34" charset="-120"/>
              </a:rPr>
              <a:t>.</a:t>
            </a:r>
            <a:r>
              <a:rPr lang="en-US" sz="1500" i="1" dirty="0" smtClean="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914400" y="4114800"/>
            <a:ext cx="4572000" cy="1554480"/>
          </a:xfrm>
          <a:prstGeom prst="rect">
            <a:avLst/>
          </a:prstGeom>
          <a:noFill/>
          <a:ln/>
        </p:spPr>
        <p:txBody>
          <a:bodyPr wrap="square" lIns="0" tIns="0" rIns="0" bIns="0" rtlCol="0" anchor="t"/>
          <a:lstStyle/>
          <a:p>
            <a:pPr marL="0" indent="0">
              <a:buNone/>
            </a:pPr>
            <a:r>
              <a:rPr lang="en-US" sz="1150" dirty="0">
                <a:solidFill>
                  <a:srgbClr val="9AA9D6"/>
                </a:solidFill>
                <a:latin typeface="Calibri" pitchFamily="34" charset="0"/>
                <a:ea typeface="Calibri" pitchFamily="34" charset="-122"/>
                <a:cs typeface="Calibri" pitchFamily="34" charset="-120"/>
              </a:rPr>
              <a:t>Matched scenario: “Angry client — project delayed”</a:t>
            </a:r>
            <a:endParaRPr lang="en-US" sz="1150" dirty="0"/>
          </a:p>
          <a:p>
            <a:pPr marL="0" indent="0">
              <a:buNone/>
            </a:pPr>
            <a:r>
              <a:rPr lang="en-US" sz="1150" dirty="0">
                <a:solidFill>
                  <a:srgbClr val="9AA9D6"/>
                </a:solidFill>
                <a:latin typeface="Calibri" pitchFamily="34" charset="0"/>
                <a:ea typeface="Calibri" pitchFamily="34" charset="-122"/>
                <a:cs typeface="Calibri" pitchFamily="34" charset="-120"/>
              </a:rPr>
              <a:t>Tone: calm, apologetic, confident, non-defensive</a:t>
            </a:r>
            <a:endParaRPr lang="en-US" sz="1150" dirty="0"/>
          </a:p>
        </p:txBody>
      </p:sp>
      <p:sp>
        <p:nvSpPr>
          <p:cNvPr id="8" name="Shape 6"/>
          <p:cNvSpPr/>
          <p:nvPr/>
        </p:nvSpPr>
        <p:spPr>
          <a:xfrm>
            <a:off x="5806440" y="3886200"/>
            <a:ext cx="502920" cy="0"/>
          </a:xfrm>
          <a:prstGeom prst="line">
            <a:avLst/>
          </a:prstGeom>
          <a:noFill/>
          <a:ln w="25400">
            <a:solidFill>
              <a:srgbClr val="3A468C"/>
            </a:solidFill>
            <a:prstDash val="solid"/>
            <a:tailEnd type="triangle"/>
          </a:ln>
        </p:spPr>
      </p:sp>
      <p:sp>
        <p:nvSpPr>
          <p:cNvPr id="9" name="Shape 7"/>
          <p:cNvSpPr/>
          <p:nvPr/>
        </p:nvSpPr>
        <p:spPr>
          <a:xfrm>
            <a:off x="6400800" y="1737360"/>
            <a:ext cx="5166360" cy="4297680"/>
          </a:xfrm>
          <a:prstGeom prst="roundRect">
            <a:avLst>
              <a:gd name="adj" fmla="val 1702"/>
            </a:avLst>
          </a:prstGeom>
          <a:solidFill>
            <a:srgbClr val="FFFFFF"/>
          </a:solidFill>
          <a:ln/>
          <a:effectLst>
            <a:outerShdw blurRad="76200" dist="25400" dir="5400000" algn="bl" rotWithShape="0">
              <a:srgbClr val="9AA5B1">
                <a:alpha val="25000"/>
              </a:srgbClr>
            </a:outerShdw>
          </a:effectLst>
        </p:spPr>
      </p:sp>
      <p:sp>
        <p:nvSpPr>
          <p:cNvPr id="10" name="Text 8"/>
          <p:cNvSpPr/>
          <p:nvPr/>
        </p:nvSpPr>
        <p:spPr>
          <a:xfrm>
            <a:off x="6675120" y="1965960"/>
            <a:ext cx="4572000" cy="274320"/>
          </a:xfrm>
          <a:prstGeom prst="rect">
            <a:avLst/>
          </a:prstGeom>
          <a:noFill/>
          <a:ln/>
        </p:spPr>
        <p:txBody>
          <a:bodyPr wrap="square"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EMAIL BUILDER RESPONDS</a:t>
            </a:r>
            <a:endParaRPr lang="en-US" sz="1100" dirty="0"/>
          </a:p>
        </p:txBody>
      </p:sp>
      <p:sp>
        <p:nvSpPr>
          <p:cNvPr id="11" name="Text 9"/>
          <p:cNvSpPr/>
          <p:nvPr/>
        </p:nvSpPr>
        <p:spPr>
          <a:xfrm>
            <a:off x="6675120" y="2377440"/>
            <a:ext cx="4617720" cy="347472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Subject: Update on Project Timeline</a:t>
            </a:r>
            <a:endParaRPr lang="en-US" sz="1150" dirty="0"/>
          </a:p>
          <a:p>
            <a:pPr marL="0" indent="0">
              <a:buNone/>
            </a:pPr>
            <a:endParaRPr lang="en-US" sz="1150" dirty="0"/>
          </a:p>
          <a:p>
            <a:pPr marL="0" indent="0">
              <a:buNone/>
            </a:pPr>
            <a:r>
              <a:rPr lang="en-US" sz="1150" dirty="0">
                <a:solidFill>
                  <a:srgbClr val="1F2937"/>
                </a:solidFill>
                <a:latin typeface="Calibri" pitchFamily="34" charset="0"/>
                <a:ea typeface="Calibri" pitchFamily="34" charset="-122"/>
                <a:cs typeface="Calibri" pitchFamily="34" charset="-120"/>
              </a:rPr>
              <a:t>Dear [Client Name],</a:t>
            </a:r>
            <a:endParaRPr lang="en-US" sz="1150" dirty="0"/>
          </a:p>
          <a:p>
            <a:pPr marL="0" indent="0">
              <a:buNone/>
            </a:pPr>
            <a:endParaRPr lang="en-US" sz="1150" dirty="0"/>
          </a:p>
          <a:p>
            <a:pPr marL="0" indent="0">
              <a:buNone/>
            </a:pPr>
            <a:r>
              <a:rPr lang="en-US" sz="1150" dirty="0">
                <a:solidFill>
                  <a:srgbClr val="1F2937"/>
                </a:solidFill>
                <a:latin typeface="Calibri" pitchFamily="34" charset="0"/>
                <a:ea typeface="Calibri" pitchFamily="34" charset="-122"/>
                <a:cs typeface="Calibri" pitchFamily="34" charset="-120"/>
              </a:rPr>
              <a:t>I want to acknowledge upfront that we did not meet the timeline we committed to, and I understand the impact this has on your plans. That is on us...</a:t>
            </a:r>
            <a:endParaRPr lang="en-US" sz="1150" dirty="0"/>
          </a:p>
          <a:p>
            <a:pPr marL="0" indent="0">
              <a:buNone/>
            </a:pPr>
            <a:endParaRPr lang="en-US" sz="1150" dirty="0"/>
          </a:p>
          <a:p>
            <a:pPr marL="0" indent="0">
              <a:buNone/>
            </a:pPr>
            <a:r>
              <a:rPr lang="en-US" sz="1150" dirty="0">
                <a:solidFill>
                  <a:srgbClr val="1F2937"/>
                </a:solidFill>
                <a:latin typeface="Calibri" pitchFamily="34" charset="0"/>
                <a:ea typeface="Calibri" pitchFamily="34" charset="-122"/>
                <a:cs typeface="Calibri" pitchFamily="34" charset="-120"/>
              </a:rPr>
              <a:t>...we are committing to [new specific date] as the delivery date.</a:t>
            </a:r>
            <a:endParaRPr lang="en-US" sz="115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GETTING IT LIVE</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Deployment Pipeline</a:t>
            </a:r>
            <a:endParaRPr lang="en-US" sz="3200" dirty="0"/>
          </a:p>
        </p:txBody>
      </p:sp>
      <p:sp>
        <p:nvSpPr>
          <p:cNvPr id="4" name="Shape 2"/>
          <p:cNvSpPr/>
          <p:nvPr/>
        </p:nvSpPr>
        <p:spPr>
          <a:xfrm>
            <a:off x="548640" y="1828800"/>
            <a:ext cx="2697480" cy="2103120"/>
          </a:xfrm>
          <a:prstGeom prst="roundRect">
            <a:avLst>
              <a:gd name="adj" fmla="val 3478"/>
            </a:avLst>
          </a:prstGeom>
          <a:solidFill>
            <a:srgbClr val="EEF2FB"/>
          </a:solidFill>
          <a:ln/>
          <a:effectLst>
            <a:outerShdw blurRad="76200" dist="25400" dir="5400000" algn="bl" rotWithShape="0">
              <a:srgbClr val="9AA5B1">
                <a:alpha val="25000"/>
              </a:srgbClr>
            </a:outerShdw>
          </a:effectLst>
        </p:spPr>
      </p:sp>
      <p:sp>
        <p:nvSpPr>
          <p:cNvPr id="5" name="Shape 3"/>
          <p:cNvSpPr/>
          <p:nvPr/>
        </p:nvSpPr>
        <p:spPr>
          <a:xfrm>
            <a:off x="685800" y="1965960"/>
            <a:ext cx="365760" cy="365760"/>
          </a:xfrm>
          <a:prstGeom prst="ellipse">
            <a:avLst/>
          </a:prstGeom>
          <a:solidFill>
            <a:srgbClr val="1E2761"/>
          </a:solidFill>
          <a:ln/>
        </p:spPr>
      </p:sp>
      <p:sp>
        <p:nvSpPr>
          <p:cNvPr id="6" name="Text 4"/>
          <p:cNvSpPr/>
          <p:nvPr/>
        </p:nvSpPr>
        <p:spPr>
          <a:xfrm>
            <a:off x="685800" y="19659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685800" y="2423160"/>
            <a:ext cx="242316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Local Development</a:t>
            </a:r>
            <a:endParaRPr lang="en-US" sz="1300" dirty="0"/>
          </a:p>
        </p:txBody>
      </p:sp>
      <p:sp>
        <p:nvSpPr>
          <p:cNvPr id="8" name="Text 6"/>
          <p:cNvSpPr/>
          <p:nvPr/>
        </p:nvSpPr>
        <p:spPr>
          <a:xfrm>
            <a:off x="685800" y="3154680"/>
            <a:ext cx="242316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Next.js dev server + .env.local (Supabase + Gemini keys)</a:t>
            </a:r>
            <a:endParaRPr lang="en-US" sz="1050" dirty="0"/>
          </a:p>
        </p:txBody>
      </p:sp>
      <p:sp>
        <p:nvSpPr>
          <p:cNvPr id="9" name="Shape 7"/>
          <p:cNvSpPr/>
          <p:nvPr/>
        </p:nvSpPr>
        <p:spPr>
          <a:xfrm>
            <a:off x="3264408" y="2880360"/>
            <a:ext cx="146304" cy="0"/>
          </a:xfrm>
          <a:prstGeom prst="line">
            <a:avLst/>
          </a:prstGeom>
          <a:noFill/>
          <a:ln w="25400">
            <a:solidFill>
              <a:srgbClr val="3A468C"/>
            </a:solidFill>
            <a:prstDash val="solid"/>
            <a:tailEnd type="triangle"/>
          </a:ln>
        </p:spPr>
      </p:sp>
      <p:sp>
        <p:nvSpPr>
          <p:cNvPr id="10" name="Shape 8"/>
          <p:cNvSpPr/>
          <p:nvPr/>
        </p:nvSpPr>
        <p:spPr>
          <a:xfrm>
            <a:off x="3410712" y="1828800"/>
            <a:ext cx="2697480" cy="2103120"/>
          </a:xfrm>
          <a:prstGeom prst="roundRect">
            <a:avLst>
              <a:gd name="adj" fmla="val 3478"/>
            </a:avLst>
          </a:prstGeom>
          <a:solidFill>
            <a:srgbClr val="EEF2FB"/>
          </a:solidFill>
          <a:ln/>
          <a:effectLst>
            <a:outerShdw blurRad="76200" dist="25400" dir="5400000" algn="bl" rotWithShape="0">
              <a:srgbClr val="9AA5B1">
                <a:alpha val="25000"/>
              </a:srgbClr>
            </a:outerShdw>
          </a:effectLst>
        </p:spPr>
      </p:sp>
      <p:sp>
        <p:nvSpPr>
          <p:cNvPr id="11" name="Shape 9"/>
          <p:cNvSpPr/>
          <p:nvPr/>
        </p:nvSpPr>
        <p:spPr>
          <a:xfrm>
            <a:off x="3547872" y="1965960"/>
            <a:ext cx="365760" cy="365760"/>
          </a:xfrm>
          <a:prstGeom prst="ellipse">
            <a:avLst/>
          </a:prstGeom>
          <a:solidFill>
            <a:srgbClr val="1E2761"/>
          </a:solidFill>
          <a:ln/>
        </p:spPr>
      </p:sp>
      <p:sp>
        <p:nvSpPr>
          <p:cNvPr id="12" name="Text 10"/>
          <p:cNvSpPr/>
          <p:nvPr/>
        </p:nvSpPr>
        <p:spPr>
          <a:xfrm>
            <a:off x="3547872" y="19659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547872" y="2423160"/>
            <a:ext cx="242316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GitHub Repository</a:t>
            </a:r>
            <a:endParaRPr lang="en-US" sz="1300" dirty="0"/>
          </a:p>
        </p:txBody>
      </p:sp>
      <p:sp>
        <p:nvSpPr>
          <p:cNvPr id="14" name="Text 12"/>
          <p:cNvSpPr/>
          <p:nvPr/>
        </p:nvSpPr>
        <p:spPr>
          <a:xfrm>
            <a:off x="3547872" y="3154680"/>
            <a:ext cx="242316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Code pushed to a private repo</a:t>
            </a:r>
            <a:endParaRPr lang="en-US" sz="1050" dirty="0"/>
          </a:p>
        </p:txBody>
      </p:sp>
      <p:sp>
        <p:nvSpPr>
          <p:cNvPr id="15" name="Shape 13"/>
          <p:cNvSpPr/>
          <p:nvPr/>
        </p:nvSpPr>
        <p:spPr>
          <a:xfrm>
            <a:off x="6126480" y="2880360"/>
            <a:ext cx="146304" cy="0"/>
          </a:xfrm>
          <a:prstGeom prst="line">
            <a:avLst/>
          </a:prstGeom>
          <a:noFill/>
          <a:ln w="25400">
            <a:solidFill>
              <a:srgbClr val="3A468C"/>
            </a:solidFill>
            <a:prstDash val="solid"/>
            <a:tailEnd type="triangle"/>
          </a:ln>
        </p:spPr>
      </p:sp>
      <p:sp>
        <p:nvSpPr>
          <p:cNvPr id="16" name="Shape 14"/>
          <p:cNvSpPr/>
          <p:nvPr/>
        </p:nvSpPr>
        <p:spPr>
          <a:xfrm>
            <a:off x="6272784" y="1828800"/>
            <a:ext cx="2697480" cy="2103120"/>
          </a:xfrm>
          <a:prstGeom prst="roundRect">
            <a:avLst>
              <a:gd name="adj" fmla="val 3478"/>
            </a:avLst>
          </a:prstGeom>
          <a:solidFill>
            <a:srgbClr val="EEF2FB"/>
          </a:solidFill>
          <a:ln/>
          <a:effectLst>
            <a:outerShdw blurRad="76200" dist="25400" dir="5400000" algn="bl" rotWithShape="0">
              <a:srgbClr val="9AA5B1">
                <a:alpha val="25000"/>
              </a:srgbClr>
            </a:outerShdw>
          </a:effectLst>
        </p:spPr>
      </p:sp>
      <p:sp>
        <p:nvSpPr>
          <p:cNvPr id="17" name="Shape 15"/>
          <p:cNvSpPr/>
          <p:nvPr/>
        </p:nvSpPr>
        <p:spPr>
          <a:xfrm>
            <a:off x="6409944" y="1965960"/>
            <a:ext cx="365760" cy="365760"/>
          </a:xfrm>
          <a:prstGeom prst="ellipse">
            <a:avLst/>
          </a:prstGeom>
          <a:solidFill>
            <a:srgbClr val="1E2761"/>
          </a:solidFill>
          <a:ln/>
        </p:spPr>
      </p:sp>
      <p:sp>
        <p:nvSpPr>
          <p:cNvPr id="18" name="Text 16"/>
          <p:cNvSpPr/>
          <p:nvPr/>
        </p:nvSpPr>
        <p:spPr>
          <a:xfrm>
            <a:off x="6409944" y="19659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409944" y="2423160"/>
            <a:ext cx="242316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Vercel Import</a:t>
            </a:r>
            <a:endParaRPr lang="en-US" sz="1300" dirty="0"/>
          </a:p>
        </p:txBody>
      </p:sp>
      <p:sp>
        <p:nvSpPr>
          <p:cNvPr id="20" name="Text 18"/>
          <p:cNvSpPr/>
          <p:nvPr/>
        </p:nvSpPr>
        <p:spPr>
          <a:xfrm>
            <a:off x="6409944" y="3154680"/>
            <a:ext cx="242316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Repo connected to Vercel, env vars configured</a:t>
            </a:r>
            <a:endParaRPr lang="en-US" sz="1050" dirty="0"/>
          </a:p>
        </p:txBody>
      </p:sp>
      <p:sp>
        <p:nvSpPr>
          <p:cNvPr id="21" name="Shape 19"/>
          <p:cNvSpPr/>
          <p:nvPr/>
        </p:nvSpPr>
        <p:spPr>
          <a:xfrm>
            <a:off x="8988552" y="2880360"/>
            <a:ext cx="146304" cy="0"/>
          </a:xfrm>
          <a:prstGeom prst="line">
            <a:avLst/>
          </a:prstGeom>
          <a:noFill/>
          <a:ln w="25400">
            <a:solidFill>
              <a:srgbClr val="3A468C"/>
            </a:solidFill>
            <a:prstDash val="solid"/>
            <a:tailEnd type="triangle"/>
          </a:ln>
        </p:spPr>
      </p:sp>
      <p:sp>
        <p:nvSpPr>
          <p:cNvPr id="22" name="Shape 20"/>
          <p:cNvSpPr/>
          <p:nvPr/>
        </p:nvSpPr>
        <p:spPr>
          <a:xfrm>
            <a:off x="9134856" y="1828800"/>
            <a:ext cx="2697480" cy="2103120"/>
          </a:xfrm>
          <a:prstGeom prst="roundRect">
            <a:avLst>
              <a:gd name="adj" fmla="val 3478"/>
            </a:avLst>
          </a:prstGeom>
          <a:solidFill>
            <a:srgbClr val="EEF2FB"/>
          </a:solidFill>
          <a:ln/>
          <a:effectLst>
            <a:outerShdw blurRad="76200" dist="25400" dir="5400000" algn="bl" rotWithShape="0">
              <a:srgbClr val="9AA5B1">
                <a:alpha val="25000"/>
              </a:srgbClr>
            </a:outerShdw>
          </a:effectLst>
        </p:spPr>
      </p:sp>
      <p:sp>
        <p:nvSpPr>
          <p:cNvPr id="23" name="Shape 21"/>
          <p:cNvSpPr/>
          <p:nvPr/>
        </p:nvSpPr>
        <p:spPr>
          <a:xfrm>
            <a:off x="9272016" y="1965960"/>
            <a:ext cx="365760" cy="365760"/>
          </a:xfrm>
          <a:prstGeom prst="ellipse">
            <a:avLst/>
          </a:prstGeom>
          <a:solidFill>
            <a:srgbClr val="1E2761"/>
          </a:solidFill>
          <a:ln/>
        </p:spPr>
      </p:sp>
      <p:sp>
        <p:nvSpPr>
          <p:cNvPr id="24" name="Text 22"/>
          <p:cNvSpPr/>
          <p:nvPr/>
        </p:nvSpPr>
        <p:spPr>
          <a:xfrm>
            <a:off x="9272016" y="19659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9272016" y="2423160"/>
            <a:ext cx="2423160" cy="4572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Live Deployment</a:t>
            </a:r>
            <a:endParaRPr lang="en-US" sz="1300" dirty="0"/>
          </a:p>
        </p:txBody>
      </p:sp>
      <p:sp>
        <p:nvSpPr>
          <p:cNvPr id="26" name="Text 24"/>
          <p:cNvSpPr/>
          <p:nvPr/>
        </p:nvSpPr>
        <p:spPr>
          <a:xfrm>
            <a:off x="9272016" y="3154680"/>
            <a:ext cx="2423160" cy="6858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Auto-deployed on every push to main</a:t>
            </a:r>
            <a:endParaRPr lang="en-US" sz="1050" dirty="0"/>
          </a:p>
        </p:txBody>
      </p:sp>
      <p:sp>
        <p:nvSpPr>
          <p:cNvPr id="27" name="Shape 25"/>
          <p:cNvSpPr/>
          <p:nvPr/>
        </p:nvSpPr>
        <p:spPr>
          <a:xfrm>
            <a:off x="548640" y="4343400"/>
            <a:ext cx="11109960" cy="1737360"/>
          </a:xfrm>
          <a:prstGeom prst="roundRect">
            <a:avLst>
              <a:gd name="adj" fmla="val 4211"/>
            </a:avLst>
          </a:prstGeom>
          <a:solidFill>
            <a:srgbClr val="EEF2FB"/>
          </a:solidFill>
          <a:ln/>
          <a:effectLst>
            <a:outerShdw blurRad="76200" dist="25400" dir="5400000" algn="bl" rotWithShape="0">
              <a:srgbClr val="9AA5B1">
                <a:alpha val="25000"/>
              </a:srgbClr>
            </a:outerShdw>
          </a:effectLst>
        </p:spPr>
      </p:sp>
      <p:sp>
        <p:nvSpPr>
          <p:cNvPr id="28" name="Text 26"/>
          <p:cNvSpPr/>
          <p:nvPr/>
        </p:nvSpPr>
        <p:spPr>
          <a:xfrm>
            <a:off x="822960" y="4526280"/>
            <a:ext cx="2743200" cy="274320"/>
          </a:xfrm>
          <a:prstGeom prst="rect">
            <a:avLst/>
          </a:prstGeom>
          <a:noFill/>
          <a:ln/>
        </p:spPr>
        <p:txBody>
          <a:bodyPr wrap="square"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COST</a:t>
            </a:r>
            <a:endParaRPr lang="en-US" sz="1100" dirty="0"/>
          </a:p>
        </p:txBody>
      </p:sp>
      <p:sp>
        <p:nvSpPr>
          <p:cNvPr id="29" name="Text 27"/>
          <p:cNvSpPr/>
          <p:nvPr/>
        </p:nvSpPr>
        <p:spPr>
          <a:xfrm>
            <a:off x="822960" y="4846320"/>
            <a:ext cx="10515600" cy="109728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Vercel (Hobby tier)  ·  Supabase (Free tier: Postgres + pgvector + Auth)  ·  Gemini API (Free tier)</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Current setup runs at zero hosting cost — suitable for internal team use at present scale.</a:t>
            </a:r>
            <a:endParaRPr lang="en-US" sz="1300" dirty="0"/>
          </a:p>
        </p:txBody>
      </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HOW ACCESS IS PROTECTED</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Security Highlights</a:t>
            </a:r>
            <a:endParaRPr lang="en-US" sz="3200" dirty="0"/>
          </a:p>
        </p:txBody>
      </p:sp>
      <p:sp>
        <p:nvSpPr>
          <p:cNvPr id="4" name="Shape 2"/>
          <p:cNvSpPr/>
          <p:nvPr/>
        </p:nvSpPr>
        <p:spPr>
          <a:xfrm>
            <a:off x="640080" y="1691640"/>
            <a:ext cx="502920" cy="502920"/>
          </a:xfrm>
          <a:prstGeom prst="ellipse">
            <a:avLst/>
          </a:prstGeom>
          <a:solidFill>
            <a:srgbClr val="1E2761"/>
          </a:solidFill>
          <a:ln/>
        </p:spPr>
      </p:sp>
      <p:sp>
        <p:nvSpPr>
          <p:cNvPr id="5" name="Text 3"/>
          <p:cNvSpPr/>
          <p:nvPr/>
        </p:nvSpPr>
        <p:spPr>
          <a:xfrm>
            <a:off x="64008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325880" y="1645920"/>
            <a:ext cx="99212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Row Level Security</a:t>
            </a:r>
            <a:endParaRPr lang="en-US" sz="1600" dirty="0"/>
          </a:p>
        </p:txBody>
      </p:sp>
      <p:sp>
        <p:nvSpPr>
          <p:cNvPr id="7" name="Text 5"/>
          <p:cNvSpPr/>
          <p:nvPr/>
        </p:nvSpPr>
        <p:spPr>
          <a:xfrm>
            <a:off x="1325880" y="1965960"/>
            <a:ext cx="99212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Every table enforces RLS — users can only ever see their own profile; only admins can read prompt_logs or other users' profiles.</a:t>
            </a:r>
            <a:endParaRPr lang="en-US" sz="1250" dirty="0"/>
          </a:p>
        </p:txBody>
      </p:sp>
      <p:sp>
        <p:nvSpPr>
          <p:cNvPr id="8" name="Shape 6"/>
          <p:cNvSpPr/>
          <p:nvPr/>
        </p:nvSpPr>
        <p:spPr>
          <a:xfrm>
            <a:off x="640080" y="2743200"/>
            <a:ext cx="502920" cy="502920"/>
          </a:xfrm>
          <a:prstGeom prst="ellipse">
            <a:avLst/>
          </a:prstGeom>
          <a:solidFill>
            <a:srgbClr val="1E2761"/>
          </a:solidFill>
          <a:ln/>
        </p:spPr>
      </p:sp>
      <p:sp>
        <p:nvSpPr>
          <p:cNvPr id="9" name="Text 7"/>
          <p:cNvSpPr/>
          <p:nvPr/>
        </p:nvSpPr>
        <p:spPr>
          <a:xfrm>
            <a:off x="64008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325880" y="2697480"/>
            <a:ext cx="99212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Service Role Isolation</a:t>
            </a:r>
            <a:endParaRPr lang="en-US" sz="1600" dirty="0"/>
          </a:p>
        </p:txBody>
      </p:sp>
      <p:sp>
        <p:nvSpPr>
          <p:cNvPr id="11" name="Text 9"/>
          <p:cNvSpPr/>
          <p:nvPr/>
        </p:nvSpPr>
        <p:spPr>
          <a:xfrm>
            <a:off x="1325880" y="3017520"/>
            <a:ext cx="99212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The Supabase service role key is used only in server-side code; it is never sent to the browser.</a:t>
            </a:r>
            <a:endParaRPr lang="en-US" sz="1250" dirty="0"/>
          </a:p>
        </p:txBody>
      </p:sp>
      <p:sp>
        <p:nvSpPr>
          <p:cNvPr id="12" name="Shape 10"/>
          <p:cNvSpPr/>
          <p:nvPr/>
        </p:nvSpPr>
        <p:spPr>
          <a:xfrm>
            <a:off x="640080" y="3794760"/>
            <a:ext cx="502920" cy="502920"/>
          </a:xfrm>
          <a:prstGeom prst="ellipse">
            <a:avLst/>
          </a:prstGeom>
          <a:solidFill>
            <a:srgbClr val="1E2761"/>
          </a:solidFill>
          <a:ln/>
        </p:spPr>
      </p:sp>
      <p:sp>
        <p:nvSpPr>
          <p:cNvPr id="13" name="Text 11"/>
          <p:cNvSpPr/>
          <p:nvPr/>
        </p:nvSpPr>
        <p:spPr>
          <a:xfrm>
            <a:off x="640080" y="3794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325880" y="3749040"/>
            <a:ext cx="99212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Admin-Only API Routes</a:t>
            </a:r>
            <a:endParaRPr lang="en-US" sz="1600" dirty="0"/>
          </a:p>
        </p:txBody>
      </p:sp>
      <p:sp>
        <p:nvSpPr>
          <p:cNvPr id="15" name="Text 13"/>
          <p:cNvSpPr/>
          <p:nvPr/>
        </p:nvSpPr>
        <p:spPr>
          <a:xfrm>
            <a:off x="1325880" y="4069080"/>
            <a:ext cx="99212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Every /api/admin/* route independently verifies is_admin() server-side before running — not just at the UI layer.</a:t>
            </a:r>
            <a:endParaRPr lang="en-US" sz="1250" dirty="0"/>
          </a:p>
        </p:txBody>
      </p:sp>
      <p:sp>
        <p:nvSpPr>
          <p:cNvPr id="16" name="Shape 14"/>
          <p:cNvSpPr/>
          <p:nvPr/>
        </p:nvSpPr>
        <p:spPr>
          <a:xfrm>
            <a:off x="640080" y="4846320"/>
            <a:ext cx="502920" cy="502920"/>
          </a:xfrm>
          <a:prstGeom prst="ellipse">
            <a:avLst/>
          </a:prstGeom>
          <a:solidFill>
            <a:srgbClr val="1E2761"/>
          </a:solidFill>
          <a:ln/>
        </p:spPr>
      </p:sp>
      <p:sp>
        <p:nvSpPr>
          <p:cNvPr id="17" name="Text 15"/>
          <p:cNvSpPr/>
          <p:nvPr/>
        </p:nvSpPr>
        <p:spPr>
          <a:xfrm>
            <a:off x="640080" y="4846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325880" y="4800600"/>
            <a:ext cx="9921240" cy="3200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Managed Authentication</a:t>
            </a:r>
            <a:endParaRPr lang="en-US" sz="1600" dirty="0"/>
          </a:p>
        </p:txBody>
      </p:sp>
      <p:sp>
        <p:nvSpPr>
          <p:cNvPr id="19" name="Text 17"/>
          <p:cNvSpPr/>
          <p:nvPr/>
        </p:nvSpPr>
        <p:spPr>
          <a:xfrm>
            <a:off x="1325880" y="5120640"/>
            <a:ext cx="9921240" cy="548640"/>
          </a:xfrm>
          <a:prstGeom prst="rect">
            <a:avLst/>
          </a:prstGeom>
          <a:noFill/>
          <a:ln/>
        </p:spPr>
        <p:txBody>
          <a:bodyPr wrap="square" lIns="0" tIns="0" rIns="0" bIns="0" rtlCol="0" anchor="t"/>
          <a:lstStyle/>
          <a:p>
            <a:pPr marL="0" indent="0">
              <a:buNone/>
            </a:pPr>
            <a:r>
              <a:rPr lang="en-US" sz="1250" dirty="0">
                <a:solidFill>
                  <a:srgbClr val="6B7280"/>
                </a:solidFill>
                <a:latin typeface="Calibri" pitchFamily="34" charset="0"/>
                <a:ea typeface="Calibri" pitchFamily="34" charset="-122"/>
                <a:cs typeface="Calibri" pitchFamily="34" charset="-120"/>
              </a:rPr>
              <a:t>Passwords are handled entirely by Supabase Auth; the application database never stores or sees a plaintext password.</a:t>
            </a:r>
            <a:endParaRPr lang="en-US" sz="125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Roadmap</a:t>
            </a:r>
            <a:endParaRPr lang="en-US" sz="3200" dirty="0"/>
          </a:p>
        </p:txBody>
      </p:sp>
      <p:sp>
        <p:nvSpPr>
          <p:cNvPr id="4" name="Shape 2"/>
          <p:cNvSpPr/>
          <p:nvPr/>
        </p:nvSpPr>
        <p:spPr>
          <a:xfrm>
            <a:off x="548640" y="1737360"/>
            <a:ext cx="5394960" cy="1965960"/>
          </a:xfrm>
          <a:prstGeom prst="roundRect">
            <a:avLst>
              <a:gd name="adj" fmla="val 3721"/>
            </a:avLst>
          </a:prstGeom>
          <a:solidFill>
            <a:srgbClr val="EEF2FB"/>
          </a:solidFill>
          <a:ln/>
          <a:effectLst>
            <a:outerShdw blurRad="76200" dist="25400" dir="5400000" algn="bl" rotWithShape="0">
              <a:srgbClr val="9AA5B1">
                <a:alpha val="25000"/>
              </a:srgbClr>
            </a:outerShdw>
          </a:effectLst>
        </p:spPr>
      </p:sp>
      <p:sp>
        <p:nvSpPr>
          <p:cNvPr id="5" name="Shape 3"/>
          <p:cNvSpPr/>
          <p:nvPr/>
        </p:nvSpPr>
        <p:spPr>
          <a:xfrm>
            <a:off x="777240" y="1965960"/>
            <a:ext cx="457200" cy="457200"/>
          </a:xfrm>
          <a:prstGeom prst="ellipse">
            <a:avLst/>
          </a:prstGeom>
          <a:solidFill>
            <a:srgbClr val="3A468C"/>
          </a:solidFill>
          <a:ln/>
        </p:spPr>
      </p:sp>
      <p:sp>
        <p:nvSpPr>
          <p:cNvPr id="6" name="Text 4"/>
          <p:cNvSpPr/>
          <p:nvPr/>
        </p:nvSpPr>
        <p:spPr>
          <a:xfrm>
            <a:off x="77724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560320"/>
            <a:ext cx="4937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Email Notifications</a:t>
            </a:r>
            <a:endParaRPr lang="en-US" sz="1500" dirty="0"/>
          </a:p>
        </p:txBody>
      </p:sp>
      <p:sp>
        <p:nvSpPr>
          <p:cNvPr id="8" name="Text 6"/>
          <p:cNvSpPr/>
          <p:nvPr/>
        </p:nvSpPr>
        <p:spPr>
          <a:xfrm>
            <a:off x="777240" y="2926080"/>
            <a:ext cx="493776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Alert admins automatically when a new signup needs approval</a:t>
            </a:r>
            <a:endParaRPr lang="en-US" sz="1150" dirty="0"/>
          </a:p>
        </p:txBody>
      </p:sp>
      <p:sp>
        <p:nvSpPr>
          <p:cNvPr id="9" name="Shape 7"/>
          <p:cNvSpPr/>
          <p:nvPr/>
        </p:nvSpPr>
        <p:spPr>
          <a:xfrm>
            <a:off x="6126480" y="1737360"/>
            <a:ext cx="5394960" cy="1965960"/>
          </a:xfrm>
          <a:prstGeom prst="roundRect">
            <a:avLst>
              <a:gd name="adj" fmla="val 3721"/>
            </a:avLst>
          </a:prstGeom>
          <a:solidFill>
            <a:srgbClr val="EEF2FB"/>
          </a:solidFill>
          <a:ln/>
          <a:effectLst>
            <a:outerShdw blurRad="76200" dist="25400" dir="5400000" algn="bl" rotWithShape="0">
              <a:srgbClr val="9AA5B1">
                <a:alpha val="25000"/>
              </a:srgbClr>
            </a:outerShdw>
          </a:effectLst>
        </p:spPr>
      </p:sp>
      <p:sp>
        <p:nvSpPr>
          <p:cNvPr id="10" name="Shape 8"/>
          <p:cNvSpPr/>
          <p:nvPr/>
        </p:nvSpPr>
        <p:spPr>
          <a:xfrm>
            <a:off x="6355080" y="1965960"/>
            <a:ext cx="457200" cy="457200"/>
          </a:xfrm>
          <a:prstGeom prst="ellipse">
            <a:avLst/>
          </a:prstGeom>
          <a:solidFill>
            <a:srgbClr val="3A468C"/>
          </a:solidFill>
          <a:ln/>
        </p:spPr>
      </p:sp>
      <p:sp>
        <p:nvSpPr>
          <p:cNvPr id="11" name="Text 9"/>
          <p:cNvSpPr/>
          <p:nvPr/>
        </p:nvSpPr>
        <p:spPr>
          <a:xfrm>
            <a:off x="635508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355080" y="2560320"/>
            <a:ext cx="4937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Expanded Dataset</a:t>
            </a:r>
            <a:endParaRPr lang="en-US" sz="1500" dirty="0"/>
          </a:p>
        </p:txBody>
      </p:sp>
      <p:sp>
        <p:nvSpPr>
          <p:cNvPr id="13" name="Text 11"/>
          <p:cNvSpPr/>
          <p:nvPr/>
        </p:nvSpPr>
        <p:spPr>
          <a:xfrm>
            <a:off x="6355080" y="2926080"/>
            <a:ext cx="493776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Add more real company scenarios as they come up in day-to-day work</a:t>
            </a:r>
            <a:endParaRPr lang="en-US" sz="1150" dirty="0"/>
          </a:p>
        </p:txBody>
      </p:sp>
      <p:sp>
        <p:nvSpPr>
          <p:cNvPr id="14" name="Shape 12"/>
          <p:cNvSpPr/>
          <p:nvPr/>
        </p:nvSpPr>
        <p:spPr>
          <a:xfrm>
            <a:off x="548640" y="3886200"/>
            <a:ext cx="5394960" cy="1965960"/>
          </a:xfrm>
          <a:prstGeom prst="roundRect">
            <a:avLst>
              <a:gd name="adj" fmla="val 3721"/>
            </a:avLst>
          </a:prstGeom>
          <a:solidFill>
            <a:srgbClr val="EEF2FB"/>
          </a:solidFill>
          <a:ln/>
          <a:effectLst>
            <a:outerShdw blurRad="76200" dist="25400" dir="5400000" algn="bl" rotWithShape="0">
              <a:srgbClr val="9AA5B1">
                <a:alpha val="25000"/>
              </a:srgbClr>
            </a:outerShdw>
          </a:effectLst>
        </p:spPr>
      </p:sp>
      <p:sp>
        <p:nvSpPr>
          <p:cNvPr id="15" name="Shape 13"/>
          <p:cNvSpPr/>
          <p:nvPr/>
        </p:nvSpPr>
        <p:spPr>
          <a:xfrm>
            <a:off x="777240" y="4114800"/>
            <a:ext cx="457200" cy="457200"/>
          </a:xfrm>
          <a:prstGeom prst="ellipse">
            <a:avLst/>
          </a:prstGeom>
          <a:solidFill>
            <a:srgbClr val="3A468C"/>
          </a:solidFill>
          <a:ln/>
        </p:spPr>
      </p:sp>
      <p:sp>
        <p:nvSpPr>
          <p:cNvPr id="16" name="Text 14"/>
          <p:cNvSpPr/>
          <p:nvPr/>
        </p:nvSpPr>
        <p:spPr>
          <a:xfrm>
            <a:off x="777240" y="4114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777240" y="4709160"/>
            <a:ext cx="4937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Usage Analytics</a:t>
            </a:r>
            <a:endParaRPr lang="en-US" sz="1500" dirty="0"/>
          </a:p>
        </p:txBody>
      </p:sp>
      <p:sp>
        <p:nvSpPr>
          <p:cNvPr id="18" name="Text 16"/>
          <p:cNvSpPr/>
          <p:nvPr/>
        </p:nvSpPr>
        <p:spPr>
          <a:xfrm>
            <a:off x="777240" y="5074920"/>
            <a:ext cx="493776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Track most common scenarios, refusal rate, and team usage trends</a:t>
            </a:r>
            <a:endParaRPr lang="en-US" sz="1150" dirty="0"/>
          </a:p>
        </p:txBody>
      </p:sp>
      <p:sp>
        <p:nvSpPr>
          <p:cNvPr id="19" name="Shape 17"/>
          <p:cNvSpPr/>
          <p:nvPr/>
        </p:nvSpPr>
        <p:spPr>
          <a:xfrm>
            <a:off x="6126480" y="3886200"/>
            <a:ext cx="5394960" cy="1965960"/>
          </a:xfrm>
          <a:prstGeom prst="roundRect">
            <a:avLst>
              <a:gd name="adj" fmla="val 3721"/>
            </a:avLst>
          </a:prstGeom>
          <a:solidFill>
            <a:srgbClr val="EEF2FB"/>
          </a:solidFill>
          <a:ln/>
          <a:effectLst>
            <a:outerShdw blurRad="76200" dist="25400" dir="5400000" algn="bl" rotWithShape="0">
              <a:srgbClr val="9AA5B1">
                <a:alpha val="25000"/>
              </a:srgbClr>
            </a:outerShdw>
          </a:effectLst>
        </p:spPr>
      </p:sp>
      <p:sp>
        <p:nvSpPr>
          <p:cNvPr id="20" name="Shape 18"/>
          <p:cNvSpPr/>
          <p:nvPr/>
        </p:nvSpPr>
        <p:spPr>
          <a:xfrm>
            <a:off x="6355080" y="4114800"/>
            <a:ext cx="457200" cy="457200"/>
          </a:xfrm>
          <a:prstGeom prst="ellipse">
            <a:avLst/>
          </a:prstGeom>
          <a:solidFill>
            <a:srgbClr val="3A468C"/>
          </a:solidFill>
          <a:ln/>
        </p:spPr>
      </p:sp>
      <p:sp>
        <p:nvSpPr>
          <p:cNvPr id="21" name="Text 19"/>
          <p:cNvSpPr/>
          <p:nvPr/>
        </p:nvSpPr>
        <p:spPr>
          <a:xfrm>
            <a:off x="6355080" y="4114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355080" y="4709160"/>
            <a:ext cx="4937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Multi-language Tone</a:t>
            </a:r>
            <a:endParaRPr lang="en-US" sz="1500" dirty="0"/>
          </a:p>
        </p:txBody>
      </p:sp>
      <p:sp>
        <p:nvSpPr>
          <p:cNvPr id="23" name="Text 21"/>
          <p:cNvSpPr/>
          <p:nvPr/>
        </p:nvSpPr>
        <p:spPr>
          <a:xfrm>
            <a:off x="6355080" y="5074920"/>
            <a:ext cx="493776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Support additional languages/dialects beyond formal English</a:t>
            </a:r>
            <a:endParaRPr lang="en-US" sz="1150" dirty="0"/>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4477" y="147638"/>
            <a:ext cx="1990725" cy="12239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3A468C"/>
          </a:solidFill>
          <a:ln/>
        </p:spPr>
      </p:sp>
      <p:sp>
        <p:nvSpPr>
          <p:cNvPr id="3" name="Text 1"/>
          <p:cNvSpPr/>
          <p:nvPr/>
        </p:nvSpPr>
        <p:spPr>
          <a:xfrm>
            <a:off x="822960" y="2743200"/>
            <a:ext cx="105156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822960" y="3566160"/>
            <a:ext cx="10515600" cy="54864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5" name="Text 3"/>
          <p:cNvSpPr/>
          <p:nvPr/>
        </p:nvSpPr>
        <p:spPr>
          <a:xfrm>
            <a:off x="822960" y="6309360"/>
            <a:ext cx="7315200" cy="320040"/>
          </a:xfrm>
          <a:prstGeom prst="rect">
            <a:avLst/>
          </a:prstGeom>
          <a:noFill/>
          <a:ln/>
        </p:spPr>
        <p:txBody>
          <a:bodyPr wrap="square" lIns="0" tIns="0" rIns="0" bIns="0" rtlCol="0" anchor="ctr"/>
          <a:lstStyle/>
          <a:p>
            <a:pPr marL="0" indent="0">
              <a:buNone/>
            </a:pPr>
            <a:r>
              <a:rPr lang="en-US" sz="1200" dirty="0">
                <a:solidFill>
                  <a:srgbClr val="9AA9D6"/>
                </a:solidFill>
                <a:latin typeface="Calibri" pitchFamily="34" charset="0"/>
                <a:ea typeface="Calibri" pitchFamily="34" charset="-122"/>
                <a:cs typeface="Calibri" pitchFamily="34" charset="-120"/>
              </a:rPr>
              <a:t>Smart AI Email Builder — Abdul </a:t>
            </a:r>
            <a:r>
              <a:rPr lang="en-US" sz="1200" dirty="0" smtClean="0">
                <a:solidFill>
                  <a:srgbClr val="9AA9D6"/>
                </a:solidFill>
                <a:latin typeface="Calibri" pitchFamily="34" charset="0"/>
                <a:ea typeface="Calibri" pitchFamily="34" charset="-122"/>
                <a:cs typeface="Calibri" pitchFamily="34" charset="-120"/>
              </a:rPr>
              <a:t>Waris and Syed Usama</a:t>
            </a:r>
            <a:endParaRPr lang="en-US" sz="12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5397" y="569595"/>
            <a:ext cx="1990725" cy="15335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1359</Words>
  <Application>Microsoft Office PowerPoint</Application>
  <PresentationFormat>Widescreen</PresentationFormat>
  <Paragraphs>267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Waris Anjum</cp:lastModifiedBy>
  <cp:revision>10</cp:revision>
  <dcterms:created xsi:type="dcterms:W3CDTF">2026-07-25T22:03:35Z</dcterms:created>
  <dcterms:modified xsi:type="dcterms:W3CDTF">2026-07-28T10:57:37Z</dcterms:modified>
</cp:coreProperties>
</file>